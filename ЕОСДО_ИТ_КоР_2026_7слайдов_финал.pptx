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6"/>
    <p:sldId id="26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856"/>
    <a:srgbClr val="155096"/>
    <a:srgbClr val="184740"/>
    <a:srgbClr val="269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>
        <p:scale>
          <a:sx n="75" d="100"/>
          <a:sy n="75" d="100"/>
        </p:scale>
        <p:origin x="90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5ADEAD-655E-4546-BFC2-50D544770E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561DE-A350-4DE3-8FD0-FBC38CDE3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130" y="1910603"/>
            <a:ext cx="7154005" cy="2225589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71ED4E-A4BC-463F-A3C1-0C885D51A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130" y="4259351"/>
            <a:ext cx="7154005" cy="973406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3399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8B04DD-304D-48CF-BDB2-2287DC819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559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739"/>
            <a:ext cx="7315200" cy="439722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1DB97278-F88D-4B39-ABAA-93F60B9D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95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93B765-7C24-4800-BF1E-E0154854AE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07"/>
            <a:ext cx="10515600" cy="347880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DBF73AF-20D2-4EEE-A17B-0D84EBD0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559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D2C7CA41-E563-4421-B718-027E187B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1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540367-A0C5-44CF-A0B3-366C150ED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46021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1"/>
            <a:ext cx="2286000" cy="275771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E0BC5EA1-3095-4E35-815A-F85EF599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33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EE8AC4-8012-4859-A695-DFEA56E879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46021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8AB3D6-4013-4A13-9C06-4611BC5B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1"/>
            <a:ext cx="2300515" cy="405416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851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6B2D75-6C72-4D11-94D9-D326FE541C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8AB3D6-4013-4A13-9C06-4611BC5B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2"/>
            <a:ext cx="2300515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0841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2"/>
            <a:ext cx="2300515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3DAB0D-CD49-4A44-8218-A92ED7EF3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768" y="339726"/>
            <a:ext cx="1728220" cy="746762"/>
          </a:xfrm>
          <a:prstGeom prst="rect">
            <a:avLst/>
          </a:prstGeom>
        </p:spPr>
      </p:pic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C31F4D8-87E0-43BA-AF68-92627B1B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333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98629D-F646-4F5D-A578-FB6F9326A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2"/>
            <a:ext cx="2300515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C31F4D8-87E0-43BA-AF68-92627B1B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4C0D7A-21D2-4AD5-A03E-8861CCBAEE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768" y="339726"/>
            <a:ext cx="1728220" cy="74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4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23EBD1-6EF7-4EED-904F-B593B518F8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10932886" cy="330834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C31F4D8-87E0-43BA-AF68-92627B1B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4C0D7A-21D2-4AD5-A03E-8861CCBAEE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768" y="339726"/>
            <a:ext cx="1728220" cy="74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58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C707D-E5E0-44CB-A06B-9869FBEC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2F9DAB-AB31-4E51-BA76-7D3C235CC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9C7CDA-F945-4504-9A09-84056DE1B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54E23-26FB-4895-8D07-89BFBB766C1F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E14B5F-15E7-4EF6-9E41-166F583CF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133AD5-8C9C-42F7-8DFE-A79105E1F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0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1645920"/>
            <a:ext cx="7150608" cy="22219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ЕОСДО 3.0 от команды «Эффективность»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3575304"/>
            <a:ext cx="8110727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Брекер Е.Е. | Ростовская АЭС, Начальник участка программного обеспечения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Кико А.Г. | Студент ВИТИ НИЯУ МИФИ</a:t>
            </a:r>
          </a:p>
          <a:p>
            <a:pPr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Веткаль М.М. | Студент филиала ДГТУ в Волгодонске</a:t>
            </a:r>
          </a:p>
        </p:txBody>
      </p:sp>
    </p:spTree>
    <p:extLst>
      <p:ext uri="{BB962C8B-B14F-4D97-AF65-F5344CB8AC3E}">
        <p14:creationId xmlns:p14="http://schemas.microsoft.com/office/powerpoint/2010/main" val="128620048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384048"/>
            <a:ext cx="8961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Внедренный функционал прототипа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07008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63D72"/>
                </a:solidFill>
                <a:latin typeface="Arial"/>
              </a:defRPr>
            </a:pPr>
            <a:r>
              <a:t>Рабочее пространство ЕОСДО: от ручной навигации к работе с содержимым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91640"/>
            <a:ext cx="67208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72BC"/>
                </a:solidFill>
                <a:latin typeface="Arial"/>
              </a:defRPr>
            </a:pPr>
            <a:r>
              <a:t>ТЕКУЩИЙ ПРОТОТИП: РЕАЛИЗОВАННЫЕ ИНСТРУМЕНТЫ НА ЭКРАНЕ</a:t>
            </a:r>
          </a:p>
        </p:txBody>
      </p:sp>
      <p:pic>
        <p:nvPicPr>
          <p:cNvPr id="5" name="Picture 4" descr="proto_mai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29968"/>
            <a:ext cx="6720840" cy="3759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54112" y="1691640"/>
            <a:ext cx="3977639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63D72"/>
                </a:solidFill>
                <a:latin typeface="Arial"/>
              </a:defRPr>
            </a:pPr>
            <a:r>
              <a:t>1. Контекстный поиск и версии</a:t>
            </a:r>
          </a:p>
          <a:p>
            <a:pPr>
              <a:spcAft>
                <a:spcPts val="1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Полнотекстовый поиск по извлеченному</a:t>
            </a:r>
          </a:p>
          <a:p>
            <a:pPr>
              <a:spcAft>
                <a:spcPts val="1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тексту (TXT/MD/CSV) и реквизитам</a:t>
            </a:r>
          </a:p>
          <a:p>
            <a:pPr>
              <a:spcAft>
                <a:spcPts val="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PDF/DOCX/XLSX с учетом истории версий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54112" y="3182112"/>
            <a:ext cx="3977639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63D72"/>
                </a:solidFill>
                <a:latin typeface="Arial"/>
              </a:defRPr>
            </a:pPr>
            <a:r>
              <a:t>2. Новые рабочие разделы в меню</a:t>
            </a:r>
          </a:p>
          <a:p>
            <a:pPr>
              <a:spcAft>
                <a:spcPts val="2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• «Канбан куратора» — контроль поручений</a:t>
            </a:r>
          </a:p>
          <a:p>
            <a:pPr>
              <a:spcAft>
                <a:spcPts val="2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• «Мои шаблоны» — пресеты реквизитов</a:t>
            </a:r>
          </a:p>
          <a:p>
            <a:pPr>
              <a:spcAft>
                <a:spcPts val="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• «Правила ИИ-проверки» — автоконтроль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4736592"/>
            <a:ext cx="3977639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63D72"/>
                </a:solidFill>
                <a:latin typeface="Arial"/>
              </a:defRPr>
            </a:pPr>
            <a:r>
              <a:t>3. Прямые ссылки и выгрузка</a:t>
            </a:r>
          </a:p>
          <a:p>
            <a:pPr>
              <a:spcAft>
                <a:spcPts val="2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Открытие карточек в отдельных вкладках (↗)</a:t>
            </a:r>
          </a:p>
          <a:p>
            <a:pPr>
              <a:spcAft>
                <a:spcPts val="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без потери списка и выгрузка реестра в 1 клик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70448"/>
            <a:ext cx="67208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550" b="1">
                <a:solidFill>
                  <a:srgbClr val="333333"/>
                </a:solidFill>
                <a:latin typeface="Arial"/>
              </a:defRPr>
            </a:pPr>
            <a:r>
              <a:t>Все подписи отражают реально действующие функции прототипа на сайте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364224"/>
            <a:ext cx="1051560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975" b="0">
                <a:solidFill>
                  <a:srgbClr val="52657B"/>
                </a:solidFill>
                <a:latin typeface="Arial"/>
              </a:defRPr>
            </a:pPr>
            <a:r>
              <a:t>Скриншот действующего прототипа (eosdo-original-production.up.railway.app). Цифрами 1–3 отмечены внедренные блоки.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384048"/>
            <a:ext cx="8961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850" b="1">
                <a:solidFill>
                  <a:srgbClr val="333333"/>
                </a:solidFill>
                <a:latin typeface="Arial"/>
              </a:defRPr>
            </a:pPr>
            <a:r>
              <a:t>1. Извлечение метаданных и связь переписки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07008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950" b="1">
                <a:solidFill>
                  <a:srgbClr val="163D72"/>
                </a:solidFill>
                <a:latin typeface="Arial"/>
              </a:defRPr>
            </a:pPr>
            <a:r>
              <a:t>Вместо ручного поиска писем — автоматическая сборка данных и веток по проекту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91640"/>
            <a:ext cx="6537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72BC"/>
                </a:solidFill>
                <a:latin typeface="Arial"/>
              </a:defRPr>
            </a:pPr>
            <a:r>
              <a:t>МОДУЛЬ МЕТАДАННЫХ: KKS-КОДЫ, ПАРАМЕТРЫ И ВЕТКА ПРОЕКТА</a:t>
            </a:r>
          </a:p>
        </p:txBody>
      </p:sp>
      <p:pic>
        <p:nvPicPr>
          <p:cNvPr id="5" name="Picture 4" descr="proto_metadata_th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29968"/>
            <a:ext cx="6537960" cy="422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71231" y="1691640"/>
            <a:ext cx="416052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63D72"/>
                </a:solidFill>
                <a:latin typeface="Arial"/>
              </a:defRPr>
            </a:pPr>
            <a:r>
              <a:t>Суть без открытия документа</a:t>
            </a:r>
          </a:p>
          <a:p>
            <a:pPr>
              <a:spcAft>
                <a:spcPts val="1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Модуль отсекает шаблонные обороты</a:t>
            </a:r>
          </a:p>
          <a:p>
            <a:pPr>
              <a:spcAft>
                <a:spcPts val="1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и сразу выделяет инженерные данные:</a:t>
            </a:r>
          </a:p>
          <a:p>
            <a:pPr>
              <a:spcAft>
                <a:spcPts val="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коды KKS, марку, сечение и длину кабеля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1" y="3127248"/>
            <a:ext cx="4160520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63D72"/>
                </a:solidFill>
                <a:latin typeface="Arial"/>
              </a:defRPr>
            </a:pPr>
            <a:r>
              <a:t>Автосборка ветки (АЭС ↔ АЭП)</a:t>
            </a:r>
          </a:p>
          <a:p>
            <a:pPr>
              <a:spcAft>
                <a:spcPts val="1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По цифровому слепку и коду KKS система</a:t>
            </a:r>
          </a:p>
          <a:p>
            <a:pPr>
              <a:spcAft>
                <a:spcPts val="1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связывает исходящие замечания и ответы</a:t>
            </a:r>
          </a:p>
          <a:p>
            <a:pPr>
              <a:spcAft>
                <a:spcPts val="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проектировщика в единую ветку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4681728"/>
            <a:ext cx="416052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650" b="1">
                <a:solidFill>
                  <a:srgbClr val="0072BC"/>
                </a:solidFill>
                <a:latin typeface="Arial"/>
              </a:defRPr>
            </a:pPr>
            <a:r>
              <a:t>Легковесный серверный модуль</a:t>
            </a:r>
          </a:p>
          <a:p>
            <a:pPr>
              <a:spcAft>
                <a:spcPts val="1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Не требует ручного ввода тегов и связей;</a:t>
            </a:r>
          </a:p>
          <a:p>
            <a:pPr>
              <a:spcAft>
                <a:spcPts val="10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сокращает поиск согласований с 30 мин</a:t>
            </a:r>
          </a:p>
          <a:p>
            <a:pPr>
              <a:spcAft>
                <a:spcPts val="0"/>
              </a:spcAft>
              <a:defRPr sz="1450" b="0">
                <a:solidFill>
                  <a:srgbClr val="333333"/>
                </a:solidFill>
                <a:latin typeface="Arial"/>
              </a:defRPr>
            </a:pPr>
            <a:r>
              <a:t>до нескольких секунд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64224"/>
            <a:ext cx="1051560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975" b="0">
                <a:solidFill>
                  <a:srgbClr val="52657B"/>
                </a:solidFill>
                <a:latin typeface="Arial"/>
              </a:defRPr>
            </a:pPr>
            <a:r>
              <a:t>Визуализация работы модуля извлечения метаданных (KKS, параметры кабеля) и автоматического связывания переписки.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384048"/>
            <a:ext cx="8961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2. Личные шаблоны реквизитов</a:t>
            </a:r>
          </a:p>
        </p:txBody>
      </p:sp>
      <p:pic>
        <p:nvPicPr>
          <p:cNvPr id="3" name="Picture 2" descr="slide4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81912"/>
            <a:ext cx="5989320" cy="4094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861304"/>
            <a:ext cx="6144768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072BC"/>
                </a:solidFill>
                <a:latin typeface="Arial"/>
              </a:defRPr>
            </a:pPr>
            <a:r>
              <a:t>ПОСЛЕ: создание из шаблона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5512" y="1673352"/>
            <a:ext cx="381304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163D72"/>
                </a:solidFill>
                <a:latin typeface="Arial"/>
              </a:defRPr>
            </a:pPr>
            <a:r>
              <a:t>Один раз настроить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5512" y="2267712"/>
            <a:ext cx="3813048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2025" b="0">
                <a:solidFill>
                  <a:srgbClr val="333333"/>
                </a:solidFill>
                <a:latin typeface="Arial"/>
              </a:defRPr>
            </a:pPr>
            <a:r>
              <a:t>Тип документа, реквизиты,</a:t>
            </a:r>
          </a:p>
          <a:p>
            <a:pPr>
              <a:spcAft>
                <a:spcPts val="0"/>
              </a:spcAft>
              <a:defRPr sz="2025" b="0">
                <a:solidFill>
                  <a:srgbClr val="333333"/>
                </a:solidFill>
                <a:latin typeface="Arial"/>
              </a:defRPr>
            </a:pPr>
            <a:r>
              <a:t>адресатов и маршрут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2" y="3374136"/>
            <a:ext cx="381304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163D72"/>
                </a:solidFill>
                <a:latin typeface="Arial"/>
              </a:defRPr>
            </a:pPr>
            <a:r>
              <a:t>Повторно использовать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2" y="3968496"/>
            <a:ext cx="3813048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2025" b="0">
                <a:solidFill>
                  <a:srgbClr val="333333"/>
                </a:solidFill>
                <a:latin typeface="Arial"/>
              </a:defRPr>
            </a:pPr>
            <a:r>
              <a:t>Выбрать шаблон, проверить</a:t>
            </a:r>
          </a:p>
          <a:p>
            <a:pPr>
              <a:spcAft>
                <a:spcPts val="0"/>
              </a:spcAft>
              <a:defRPr sz="2025" b="0">
                <a:solidFill>
                  <a:srgbClr val="333333"/>
                </a:solidFill>
                <a:latin typeface="Arial"/>
              </a:defRPr>
            </a:pPr>
            <a:r>
              <a:t>и уточнить данные новой карточки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5248656"/>
            <a:ext cx="3813048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072BC"/>
                </a:solidFill>
                <a:latin typeface="Arial"/>
              </a:defRPr>
            </a:pPr>
            <a:r>
              <a:t>Показатель пилота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5623560"/>
            <a:ext cx="38130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1875" b="0">
                <a:solidFill>
                  <a:srgbClr val="333333"/>
                </a:solidFill>
                <a:latin typeface="Arial"/>
              </a:defRPr>
            </a:pPr>
            <a:r>
              <a:t>Время создания карточки</a:t>
            </a:r>
          </a:p>
          <a:p>
            <a:pPr>
              <a:spcAft>
                <a:spcPts val="0"/>
              </a:spcAft>
              <a:defRPr sz="1875" b="0">
                <a:solidFill>
                  <a:srgbClr val="333333"/>
                </a:solidFill>
                <a:latin typeface="Arial"/>
              </a:defRPr>
            </a:pPr>
            <a:r>
              <a:t>и число ручных заполнений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364224"/>
            <a:ext cx="1051560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975" b="0">
                <a:solidFill>
                  <a:srgbClr val="52657B"/>
                </a:solidFill>
                <a:latin typeface="Arial"/>
              </a:defRPr>
            </a:pPr>
            <a:r>
              <a:t>Скриншот текущего прототипа с учебными данными. Шаблон сохраняет реквизиты и маршрут, а не текст файла.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384048"/>
            <a:ext cx="8961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3. Работа в нескольких окнах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08760"/>
            <a:ext cx="1051560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163D72"/>
                </a:solidFill>
                <a:latin typeface="Arial"/>
              </a:defRPr>
            </a:pPr>
            <a:r>
              <a:t>Список документов остаётся открытым</a:t>
            </a:r>
          </a:p>
        </p:txBody>
      </p:sp>
      <p:pic>
        <p:nvPicPr>
          <p:cNvPr id="4" name="Picture 3" descr="slide5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76856"/>
            <a:ext cx="5093208" cy="2911692"/>
          </a:xfrm>
          <a:prstGeom prst="rect">
            <a:avLst/>
          </a:prstGeom>
        </p:spPr>
      </p:pic>
      <p:pic>
        <p:nvPicPr>
          <p:cNvPr id="5" name="Picture 4" descr="slide5_shap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236976"/>
            <a:ext cx="5093208" cy="986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920240"/>
            <a:ext cx="509320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072BC"/>
                </a:solidFill>
                <a:latin typeface="Arial"/>
              </a:defRPr>
            </a:pPr>
            <a:r>
              <a:t>ОКНО 1  Реестр и прямые ссылки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920240"/>
            <a:ext cx="509320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072BC"/>
                </a:solidFill>
                <a:latin typeface="Arial"/>
              </a:defRPr>
            </a:pPr>
            <a:r>
              <a:t>ОКНО 2  Карточка документа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449824"/>
            <a:ext cx="1051560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Карточки открываются в отдельных вкладках браузера.</a:t>
            </a:r>
          </a:p>
          <a:p>
            <a:pPr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Их можно вынести в окна и расположить рядом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64224"/>
            <a:ext cx="1051560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975" b="0">
                <a:solidFill>
                  <a:srgbClr val="52657B"/>
                </a:solidFill>
                <a:latin typeface="Arial"/>
              </a:defRPr>
            </a:pPr>
            <a:r>
              <a:t>Показатель пилота: время сравнения двух документов и число повторных поисков. На снимках учебные данные.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384048"/>
            <a:ext cx="89611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4. Документы как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08176"/>
            <a:ext cx="105156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0072BC"/>
                </a:solidFill>
                <a:latin typeface="Arial"/>
              </a:defRPr>
            </a:pPr>
            <a:r>
              <a:t>Следующий этап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38528"/>
            <a:ext cx="10515600" cy="9326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  <a:defRPr sz="2475" b="1">
                <a:solidFill>
                  <a:srgbClr val="333333"/>
                </a:solidFill>
                <a:latin typeface="Arial"/>
              </a:defRPr>
            </a:pPr>
            <a:r>
              <a:t>Оригинал хранится как прежде.</a:t>
            </a:r>
          </a:p>
          <a:p>
            <a:pPr>
              <a:spcAft>
                <a:spcPts val="0"/>
              </a:spcAft>
              <a:defRPr sz="2475" b="1">
                <a:solidFill>
                  <a:srgbClr val="333333"/>
                </a:solidFill>
                <a:latin typeface="Arial"/>
              </a:defRPr>
            </a:pPr>
            <a:r>
              <a:t>При загрузке система готовит данные для поиска и анализа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237171200" y="3017520"/>
            <a:ext cx="2240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150" b="1">
                <a:solidFill>
                  <a:srgbClr val="0072B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237171200" y="3657600"/>
            <a:ext cx="237744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63D72"/>
                </a:solidFill>
                <a:latin typeface="Arial"/>
              </a:defRPr>
            </a:pPr>
            <a:r>
              <a:t>Извлечение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237171200" y="4224528"/>
            <a:ext cx="237744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650" b="0">
                <a:solidFill>
                  <a:srgbClr val="333333"/>
                </a:solidFill>
                <a:latin typeface="Arial"/>
              </a:defRPr>
            </a:pPr>
            <a:r>
              <a:t>Текст и реквизиты</a:t>
            </a:r>
          </a:p>
          <a:p>
            <a:pPr>
              <a:spcAft>
                <a:spcPts val="200"/>
              </a:spcAft>
              <a:defRPr sz="1650" b="0">
                <a:solidFill>
                  <a:srgbClr val="333333"/>
                </a:solidFill>
                <a:latin typeface="Arial"/>
              </a:defRPr>
            </a:pPr>
            <a:r>
              <a:t>из файла, включая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2367788800" y="3017520"/>
            <a:ext cx="2240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150" b="1">
                <a:solidFill>
                  <a:srgbClr val="0072B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2367788800" y="3657600"/>
            <a:ext cx="237744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63D72"/>
                </a:solidFill>
                <a:latin typeface="Arial"/>
              </a:defRPr>
            </a:pPr>
            <a:r>
              <a:t>Контекст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2367788800" y="4224528"/>
            <a:ext cx="237744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650" b="0">
                <a:solidFill>
                  <a:srgbClr val="333333"/>
                </a:solidFill>
                <a:latin typeface="Arial"/>
              </a:defRPr>
            </a:pPr>
            <a:r>
              <a:t>Тип, тема и участники</a:t>
            </a:r>
          </a:p>
          <a:p>
            <a:pPr>
              <a:spcAft>
                <a:spcPts val="200"/>
              </a:spcAft>
              <a:defRPr sz="1650" b="0">
                <a:solidFill>
                  <a:srgbClr val="333333"/>
                </a:solidFill>
                <a:latin typeface="Arial"/>
              </a:defRPr>
            </a:pPr>
            <a:r>
              <a:t>Версия документа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3859680000" y="3017520"/>
            <a:ext cx="2240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150" b="1">
                <a:solidFill>
                  <a:srgbClr val="0072B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3859680000" y="3657600"/>
            <a:ext cx="237744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63D72"/>
                </a:solidFill>
                <a:latin typeface="Arial"/>
              </a:defRPr>
            </a:pPr>
            <a:r>
              <a:t>Интеграция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3859680000" y="4224528"/>
            <a:ext cx="237744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650" b="0">
                <a:solidFill>
                  <a:srgbClr val="333333"/>
                </a:solidFill>
                <a:latin typeface="Arial"/>
              </a:defRPr>
            </a:pPr>
            <a:r>
              <a:t>Фрагменты текста</a:t>
            </a:r>
          </a:p>
          <a:p>
            <a:pPr>
              <a:spcAft>
                <a:spcPts val="200"/>
              </a:spcAft>
              <a:defRPr sz="1650" b="0">
                <a:solidFill>
                  <a:srgbClr val="333333"/>
                </a:solidFill>
                <a:latin typeface="Arial"/>
              </a:defRPr>
            </a:pPr>
            <a:r>
              <a:t>и векторные представления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5351571200" y="3017520"/>
            <a:ext cx="224028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150" b="1">
                <a:solidFill>
                  <a:srgbClr val="0072B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5351571200" y="3657600"/>
            <a:ext cx="237744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63D72"/>
                </a:solidFill>
                <a:latin typeface="Arial"/>
              </a:defRPr>
            </a:pPr>
            <a:r>
              <a:t>Применение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5351571200" y="4224528"/>
            <a:ext cx="237744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650" b="0">
                <a:solidFill>
                  <a:srgbClr val="333333"/>
                </a:solidFill>
                <a:latin typeface="Arial"/>
              </a:defRPr>
            </a:pPr>
            <a:r>
              <a:t>Поиск по смыслу,</a:t>
            </a:r>
          </a:p>
          <a:p>
            <a:pPr>
              <a:spcAft>
                <a:spcPts val="200"/>
              </a:spcAft>
              <a:defRPr sz="1650" b="0">
                <a:solidFill>
                  <a:srgbClr val="333333"/>
                </a:solidFill>
                <a:latin typeface="Arial"/>
              </a:defRPr>
            </a:pPr>
            <a:r>
              <a:t>связи и сводки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010912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975" b="0">
                <a:solidFill>
                  <a:srgbClr val="52657B"/>
                </a:solidFill>
                <a:latin typeface="Arial"/>
              </a:defRPr>
            </a:pPr>
            <a:r>
              <a:t>Предлагаемый следующий этап. Семантическая индексация ещё не является функцией показанного прототипа.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21792"/>
            <a:ext cx="8522208" cy="7223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3150" b="1">
                <a:solidFill>
                  <a:srgbClr val="163D72"/>
                </a:solidFill>
                <a:latin typeface="Arial"/>
              </a:defRPr>
            </a:pPr>
            <a:r>
              <a:t>Пилот и показатели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73352"/>
            <a:ext cx="105156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Сначала проверить три повседневных сценария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2391324249600"/>
            <a:ext cx="1005840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333333"/>
                </a:solidFill>
                <a:latin typeface="Arial"/>
              </a:defRPr>
            </a:pPr>
            <a:r>
              <a:t>Регулярные задачи (письма и служебные записки) сделать пресетами для каждого человека;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69257977600"/>
            <a:ext cx="1005840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333333"/>
                </a:solidFill>
                <a:latin typeface="Arial"/>
              </a:defRPr>
            </a:pPr>
            <a:r>
              <a:t>Мультиоконный доступ – позволить пользователям держать несколько открытых вкладок;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414752460800"/>
            <a:ext cx="1005840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333333"/>
                </a:solidFill>
                <a:latin typeface="Arial"/>
              </a:defRPr>
            </a:pPr>
            <a:r>
              <a:t>Использовать выпадающие списки в графах: «Дело»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64224"/>
            <a:ext cx="1051560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975" b="0">
                <a:solidFill>
                  <a:srgbClr val="52657B"/>
                </a:solidFill>
                <a:latin typeface="Arial"/>
              </a:defRPr>
            </a:pPr>
            <a:r>
              <a:t>Эффект измеряем на одинаковых задачах до и после. Решение о масштабировании принимаем по результатам пилота.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Академия Тренеров">
      <a:dk1>
        <a:srgbClr val="333333"/>
      </a:dk1>
      <a:lt1>
        <a:sysClr val="window" lastClr="FFFFFF"/>
      </a:lt1>
      <a:dk2>
        <a:srgbClr val="333333"/>
      </a:dk2>
      <a:lt2>
        <a:srgbClr val="EBEBEB"/>
      </a:lt2>
      <a:accent1>
        <a:srgbClr val="20386A"/>
      </a:accent1>
      <a:accent2>
        <a:srgbClr val="035FA2"/>
      </a:accent2>
      <a:accent3>
        <a:srgbClr val="6EABDE"/>
      </a:accent3>
      <a:accent4>
        <a:srgbClr val="E2067A"/>
      </a:accent4>
      <a:accent5>
        <a:srgbClr val="269789"/>
      </a:accent5>
      <a:accent6>
        <a:srgbClr val="61B234"/>
      </a:accent6>
      <a:hlink>
        <a:srgbClr val="035FA2"/>
      </a:hlink>
      <a:folHlink>
        <a:srgbClr val="E206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</Words>
  <Application>Microsoft Office PowerPoint</Application>
  <PresentationFormat>Широкоэкранный</PresentationFormat>
  <Paragraphs>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Тема Office</vt:lpstr>
      <vt:lpstr>Название презентации</vt:lpstr>
      <vt:lpstr>Схема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МАРУСЯ Мурзикина</dc:creator>
  <cp:lastModifiedBy>МАРУСЯ Мурзикина</cp:lastModifiedBy>
  <cp:revision>11</cp:revision>
  <dcterms:created xsi:type="dcterms:W3CDTF">2024-10-17T11:11:52Z</dcterms:created>
  <dcterms:modified xsi:type="dcterms:W3CDTF">2026-10-15T10:14:44Z</dcterms:modified>
</cp:coreProperties>
</file>