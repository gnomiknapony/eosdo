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6"/>
    <p:sldId id="262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2856"/>
    <a:srgbClr val="155096"/>
    <a:srgbClr val="184740"/>
    <a:srgbClr val="2697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5" autoAdjust="0"/>
    <p:restoredTop sz="94660"/>
  </p:normalViewPr>
  <p:slideViewPr>
    <p:cSldViewPr snapToGrid="0">
      <p:cViewPr>
        <p:scale>
          <a:sx n="75" d="100"/>
          <a:sy n="75" d="100"/>
        </p:scale>
        <p:origin x="900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59999" cy="59999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A5ADEAD-655E-4546-BFC2-50D544770E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6561DE-A350-4DE3-8FD0-FBC38CDE36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130" y="1910603"/>
            <a:ext cx="7154005" cy="2225589"/>
          </a:xfrm>
        </p:spPr>
        <p:txBody>
          <a:bodyPr anchor="ctr">
            <a:normAutofit/>
          </a:bodyPr>
          <a:lstStyle>
            <a:lvl1pPr algn="l"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B71ED4E-A4BC-463F-A3C1-0C885D51A9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130" y="4259351"/>
            <a:ext cx="7154005" cy="973406"/>
          </a:xfrm>
        </p:spPr>
        <p:txBody>
          <a:bodyPr anchor="t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833999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98B04DD-304D-48CF-BDB2-2287DC819D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38A0F0-85D3-4AB8-809C-941BF8095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559"/>
            <a:ext cx="8040329" cy="858838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64C8CF-011D-4A47-8B2F-62273B729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9739"/>
            <a:ext cx="7315200" cy="439722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2"/>
                </a:solidFill>
              </a:defRPr>
            </a:lvl2pPr>
            <a:lvl3pPr marL="914400" indent="0">
              <a:buNone/>
              <a:defRPr sz="1600">
                <a:solidFill>
                  <a:schemeClr val="tx2"/>
                </a:solidFill>
              </a:defRPr>
            </a:lvl3pPr>
            <a:lvl4pPr marL="1371600" indent="0">
              <a:buNone/>
              <a:defRPr sz="1600">
                <a:solidFill>
                  <a:schemeClr val="tx2"/>
                </a:solidFill>
              </a:defRPr>
            </a:lvl4pPr>
            <a:lvl5pPr marL="1828800" indent="0"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1DB97278-F88D-4B39-ABAA-93F60B9DB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60486" cy="365125"/>
          </a:xfrm>
        </p:spPr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02A79539-C9D9-4FDC-A7A5-4F2F5ACBEA5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950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193B765-7C24-4800-BF1E-E0154854AE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7664C8CF-011D-4A47-8B2F-62273B729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4807"/>
            <a:ext cx="10515600" cy="347880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2"/>
                </a:solidFill>
              </a:defRPr>
            </a:lvl2pPr>
            <a:lvl3pPr marL="914400" indent="0">
              <a:buNone/>
              <a:defRPr sz="1600">
                <a:solidFill>
                  <a:schemeClr val="tx2"/>
                </a:solidFill>
              </a:defRPr>
            </a:lvl3pPr>
            <a:lvl4pPr marL="1371600" indent="0">
              <a:buNone/>
              <a:defRPr sz="1600">
                <a:solidFill>
                  <a:schemeClr val="tx2"/>
                </a:solidFill>
              </a:defRPr>
            </a:lvl4pPr>
            <a:lvl5pPr marL="1828800" indent="0"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2DBF73AF-20D2-4EEE-A17B-0D84EBD0C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559"/>
            <a:ext cx="8040329" cy="858838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D2C7CA41-E563-4421-B718-027E187B8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60486" cy="365125"/>
          </a:xfrm>
        </p:spPr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02A79539-C9D9-4FDC-A7A5-4F2F5ACBEA5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10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3540367-A0C5-44CF-A0B3-366C150ED9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38A0F0-85D3-4AB8-809C-941BF8095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040329" cy="858838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64C8CF-011D-4A47-8B2F-62273B729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1"/>
            <a:ext cx="8040329" cy="4602162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2"/>
                </a:solidFill>
              </a:defRPr>
            </a:lvl2pPr>
            <a:lvl3pPr marL="914400" indent="0">
              <a:buNone/>
              <a:defRPr sz="1600">
                <a:solidFill>
                  <a:schemeClr val="tx2"/>
                </a:solidFill>
              </a:defRPr>
            </a:lvl3pPr>
            <a:lvl4pPr marL="1371600" indent="0">
              <a:buNone/>
              <a:defRPr sz="1600">
                <a:solidFill>
                  <a:schemeClr val="tx2"/>
                </a:solidFill>
              </a:defRPr>
            </a:lvl4pPr>
            <a:lvl5pPr marL="1828800" indent="0"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2FFB4691-7153-4E73-9938-290D41D7BCA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470571" y="1574801"/>
            <a:ext cx="2286000" cy="275771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2"/>
                </a:solidFill>
              </a:defRPr>
            </a:lvl2pPr>
            <a:lvl3pPr marL="914400" indent="0">
              <a:buNone/>
              <a:defRPr sz="1600">
                <a:solidFill>
                  <a:schemeClr val="tx2"/>
                </a:solidFill>
              </a:defRPr>
            </a:lvl3pPr>
            <a:lvl4pPr marL="1371600" indent="0">
              <a:buNone/>
              <a:defRPr sz="1600">
                <a:solidFill>
                  <a:schemeClr val="tx2"/>
                </a:solidFill>
              </a:defRPr>
            </a:lvl4pPr>
            <a:lvl5pPr marL="1828800" indent="0"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E0BC5EA1-3095-4E35-815A-F85EF5996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6048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2A79539-C9D9-4FDC-A7A5-4F2F5ACBEA5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337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3EE8AC4-8012-4859-A695-DFEA56E879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38A0F0-85D3-4AB8-809C-941BF8095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040329" cy="858838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64C8CF-011D-4A47-8B2F-62273B729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1"/>
            <a:ext cx="8040329" cy="4602162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2"/>
                </a:solidFill>
              </a:defRPr>
            </a:lvl2pPr>
            <a:lvl3pPr marL="914400" indent="0">
              <a:buNone/>
              <a:defRPr sz="1600">
                <a:solidFill>
                  <a:schemeClr val="tx2"/>
                </a:solidFill>
              </a:defRPr>
            </a:lvl3pPr>
            <a:lvl4pPr marL="1371600" indent="0">
              <a:buNone/>
              <a:defRPr sz="1600">
                <a:solidFill>
                  <a:schemeClr val="tx2"/>
                </a:solidFill>
              </a:defRPr>
            </a:lvl4pPr>
            <a:lvl5pPr marL="1828800" indent="0"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8AB3D6-4013-4A13-9C06-4611BC5B6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6048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2A79539-C9D9-4FDC-A7A5-4F2F5ACBEA5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2FFB4691-7153-4E73-9938-290D41D7BCA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470571" y="1574801"/>
            <a:ext cx="2300515" cy="4054167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tx2"/>
                </a:solidFill>
              </a:defRPr>
            </a:lvl2pPr>
            <a:lvl3pPr marL="914400" indent="0">
              <a:buNone/>
              <a:defRPr sz="1600">
                <a:solidFill>
                  <a:schemeClr val="tx2"/>
                </a:solidFill>
              </a:defRPr>
            </a:lvl3pPr>
            <a:lvl4pPr marL="1371600" indent="0">
              <a:buNone/>
              <a:defRPr sz="1600">
                <a:solidFill>
                  <a:schemeClr val="tx2"/>
                </a:solidFill>
              </a:defRPr>
            </a:lvl4pPr>
            <a:lvl5pPr marL="1828800" indent="0"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28516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D6B2D75-6C72-4D11-94D9-D326FE541C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38A0F0-85D3-4AB8-809C-941BF8095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040329" cy="858838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64C8CF-011D-4A47-8B2F-62273B729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1"/>
            <a:ext cx="8040329" cy="357238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2"/>
                </a:solidFill>
              </a:defRPr>
            </a:lvl2pPr>
            <a:lvl3pPr marL="914400" indent="0">
              <a:buNone/>
              <a:defRPr sz="1600">
                <a:solidFill>
                  <a:schemeClr val="tx2"/>
                </a:solidFill>
              </a:defRPr>
            </a:lvl3pPr>
            <a:lvl4pPr marL="1371600" indent="0">
              <a:buNone/>
              <a:defRPr sz="1600">
                <a:solidFill>
                  <a:schemeClr val="tx2"/>
                </a:solidFill>
              </a:defRPr>
            </a:lvl4pPr>
            <a:lvl5pPr marL="1828800" indent="0"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8AB3D6-4013-4A13-9C06-4611BC5B6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60486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2A79539-C9D9-4FDC-A7A5-4F2F5ACBEA5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2FFB4691-7153-4E73-9938-290D41D7BCA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470571" y="1574802"/>
            <a:ext cx="2300515" cy="357238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tx2"/>
                </a:solidFill>
              </a:defRPr>
            </a:lvl2pPr>
            <a:lvl3pPr marL="914400" indent="0">
              <a:buNone/>
              <a:defRPr sz="1600">
                <a:solidFill>
                  <a:schemeClr val="tx2"/>
                </a:solidFill>
              </a:defRPr>
            </a:lvl3pPr>
            <a:lvl4pPr marL="1371600" indent="0">
              <a:buNone/>
              <a:defRPr sz="1600">
                <a:solidFill>
                  <a:schemeClr val="tx2"/>
                </a:solidFill>
              </a:defRPr>
            </a:lvl4pPr>
            <a:lvl5pPr marL="1828800" indent="0"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508415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38A0F0-85D3-4AB8-809C-941BF8095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040329" cy="858838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64C8CF-011D-4A47-8B2F-62273B729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1"/>
            <a:ext cx="8040329" cy="357238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2"/>
                </a:solidFill>
              </a:defRPr>
            </a:lvl2pPr>
            <a:lvl3pPr marL="914400" indent="0">
              <a:buNone/>
              <a:defRPr sz="1600">
                <a:solidFill>
                  <a:schemeClr val="tx2"/>
                </a:solidFill>
              </a:defRPr>
            </a:lvl3pPr>
            <a:lvl4pPr marL="1371600" indent="0">
              <a:buNone/>
              <a:defRPr sz="1600">
                <a:solidFill>
                  <a:schemeClr val="tx2"/>
                </a:solidFill>
              </a:defRPr>
            </a:lvl4pPr>
            <a:lvl5pPr marL="1828800" indent="0"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2FFB4691-7153-4E73-9938-290D41D7BCA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470571" y="1574802"/>
            <a:ext cx="2300515" cy="357238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tx2"/>
                </a:solidFill>
              </a:defRPr>
            </a:lvl2pPr>
            <a:lvl3pPr marL="914400" indent="0">
              <a:buNone/>
              <a:defRPr sz="1600">
                <a:solidFill>
                  <a:schemeClr val="tx2"/>
                </a:solidFill>
              </a:defRPr>
            </a:lvl3pPr>
            <a:lvl4pPr marL="1371600" indent="0">
              <a:buNone/>
              <a:defRPr sz="1600">
                <a:solidFill>
                  <a:schemeClr val="tx2"/>
                </a:solidFill>
              </a:defRPr>
            </a:lvl4pPr>
            <a:lvl5pPr marL="1828800" indent="0"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93DAB0D-CD49-4A44-8218-A92ED7EF3B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5768" y="339726"/>
            <a:ext cx="1728220" cy="746762"/>
          </a:xfrm>
          <a:prstGeom prst="rect">
            <a:avLst/>
          </a:prstGeom>
        </p:spPr>
      </p:pic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BC31F4D8-87E0-43BA-AF68-92627B1B9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60486" cy="365125"/>
          </a:xfrm>
        </p:spPr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02A79539-C9D9-4FDC-A7A5-4F2F5ACBEA5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3333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C98629D-F646-4F5D-A578-FB6F9326A5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38A0F0-85D3-4AB8-809C-941BF8095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040329" cy="858838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64C8CF-011D-4A47-8B2F-62273B729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1"/>
            <a:ext cx="8040329" cy="357238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tx2"/>
                </a:solidFill>
              </a:defRPr>
            </a:lvl2pPr>
            <a:lvl3pPr marL="914400" indent="0">
              <a:buNone/>
              <a:defRPr sz="1600">
                <a:solidFill>
                  <a:schemeClr val="tx2"/>
                </a:solidFill>
              </a:defRPr>
            </a:lvl3pPr>
            <a:lvl4pPr marL="1371600" indent="0">
              <a:buNone/>
              <a:defRPr sz="1600">
                <a:solidFill>
                  <a:schemeClr val="tx2"/>
                </a:solidFill>
              </a:defRPr>
            </a:lvl4pPr>
            <a:lvl5pPr marL="1828800" indent="0"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2FFB4691-7153-4E73-9938-290D41D7BCA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470571" y="1574802"/>
            <a:ext cx="2300515" cy="357238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tx2"/>
                </a:solidFill>
              </a:defRPr>
            </a:lvl2pPr>
            <a:lvl3pPr marL="914400" indent="0">
              <a:buNone/>
              <a:defRPr sz="1600">
                <a:solidFill>
                  <a:schemeClr val="tx2"/>
                </a:solidFill>
              </a:defRPr>
            </a:lvl3pPr>
            <a:lvl4pPr marL="1371600" indent="0">
              <a:buNone/>
              <a:defRPr sz="1600">
                <a:solidFill>
                  <a:schemeClr val="tx2"/>
                </a:solidFill>
              </a:defRPr>
            </a:lvl4pPr>
            <a:lvl5pPr marL="1828800" indent="0"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BC31F4D8-87E0-43BA-AF68-92627B1B9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60486" cy="365125"/>
          </a:xfrm>
        </p:spPr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02A79539-C9D9-4FDC-A7A5-4F2F5ACBEA5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94C0D7A-21D2-4AD5-A03E-8861CCBAEE3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5768" y="339726"/>
            <a:ext cx="1728220" cy="74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343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E23EBD1-6EF7-4EED-904F-B593B518F8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38A0F0-85D3-4AB8-809C-941BF8095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040329" cy="858838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64C8CF-011D-4A47-8B2F-62273B729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1"/>
            <a:ext cx="10932886" cy="3308349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tx2"/>
                </a:solidFill>
              </a:defRPr>
            </a:lvl2pPr>
            <a:lvl3pPr marL="914400" indent="0">
              <a:buNone/>
              <a:defRPr sz="1600">
                <a:solidFill>
                  <a:schemeClr val="tx2"/>
                </a:solidFill>
              </a:defRPr>
            </a:lvl3pPr>
            <a:lvl4pPr marL="1371600" indent="0">
              <a:buNone/>
              <a:defRPr sz="1600">
                <a:solidFill>
                  <a:schemeClr val="tx2"/>
                </a:solidFill>
              </a:defRPr>
            </a:lvl4pPr>
            <a:lvl5pPr marL="1828800" indent="0">
              <a:buNone/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Номер слайда 5">
            <a:extLst>
              <a:ext uri="{FF2B5EF4-FFF2-40B4-BE49-F238E27FC236}">
                <a16:creationId xmlns:a16="http://schemas.microsoft.com/office/drawing/2014/main" id="{BC31F4D8-87E0-43BA-AF68-92627B1B9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160486" cy="365125"/>
          </a:xfrm>
        </p:spPr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02A79539-C9D9-4FDC-A7A5-4F2F5ACBEA5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94C0D7A-21D2-4AD5-A03E-8861CCBAEE3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5768" y="339726"/>
            <a:ext cx="1728220" cy="74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3581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BC707D-E5E0-44CB-A06B-9869FBEC0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2F9DAB-AB31-4E51-BA76-7D3C235CC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9C7CDA-F945-4504-9A09-84056DE1B8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54E23-26FB-4895-8D07-89BFBB766C1F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E14B5F-15E7-4EF6-9E41-166F583CFE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133AD5-8C9C-42F7-8DFE-A79105E1FD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79539-C9D9-4FDC-A7A5-4F2F5ACBEA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106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dited shape 3"/>
          <p:cNvSpPr txBox="1"/>
          <p:nvPr/>
        </p:nvSpPr>
        <p:spPr>
          <a:xfrm>
            <a:off x="804672" y="1920240"/>
            <a:ext cx="9509760" cy="64008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3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ЕОСДО 3.0</a:t>
            </a:r>
            <a:endParaRPr lang="ru-RU" sz="3800"/>
          </a:p>
        </p:txBody>
      </p:sp>
      <p:sp>
        <p:nvSpPr>
          <p:cNvPr id="14" name="Edited shape 4"/>
          <p:cNvSpPr txBox="1"/>
          <p:nvPr/>
        </p:nvSpPr>
        <p:spPr>
          <a:xfrm>
            <a:off x="822960" y="2724912"/>
            <a:ext cx="9418320" cy="96012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Меньше повторного ввода.</a:t>
            </a:r>
            <a:endParaRPr lang="ru-RU" sz="2700"/>
          </a:p>
          <a:p>
            <a:pPr>
              <a:spcAft>
                <a:spcPts val="200"/>
              </a:spcAft>
            </a:pPr>
            <a:r>
              <a:rPr lang="ru-RU"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Быстрее поиск нужной переписки.</a:t>
            </a:r>
            <a:endParaRPr lang="ru-RU" sz="2700"/>
          </a:p>
        </p:txBody>
      </p:sp>
      <p:sp>
        <p:nvSpPr>
          <p:cNvPr id="15" name="Edited shape 5"/>
          <p:cNvSpPr txBox="1"/>
          <p:nvPr/>
        </p:nvSpPr>
        <p:spPr>
          <a:xfrm>
            <a:off x="841248" y="3913632"/>
            <a:ext cx="896112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Команда «Эффективность» • прототип и предложение пилота</a:t>
            </a:r>
            <a:endParaRPr lang="ru-RU" sz="1800"/>
          </a:p>
        </p:txBody>
      </p:sp>
      <p:sp>
        <p:nvSpPr>
          <p:cNvPr id="16" name="Edited shape 6"/>
          <p:cNvSpPr txBox="1"/>
          <p:nvPr/>
        </p:nvSpPr>
        <p:spPr>
          <a:xfrm>
            <a:off x="841248" y="4572000"/>
            <a:ext cx="9966960" cy="1033272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Брекер Е.Е. | Ростовская АЭС, начальник участка программного обеспечения</a:t>
            </a:r>
            <a:endParaRPr lang="ru-RU" sz="1400"/>
          </a:p>
          <a:p>
            <a:pPr>
              <a:spcAft>
                <a:spcPts val="200"/>
              </a:spcAft>
            </a:pPr>
            <a:r>
              <a:rPr lang="ru-RU" sz="1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Кико А.Г. | Студент ВИТИ НИЯУ МИФИ</a:t>
            </a:r>
            <a:endParaRPr lang="ru-RU" sz="1400"/>
          </a:p>
          <a:p>
            <a:pPr>
              <a:spcAft>
                <a:spcPts val="200"/>
              </a:spcAft>
            </a:pPr>
            <a:r>
              <a:rPr lang="ru-RU" sz="1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Веткаль М.М. | Студент филиала ДГТУ в Волгодонске</a:t>
            </a:r>
            <a:endParaRPr lang="ru-RU" sz="1400"/>
          </a:p>
        </p:txBody>
      </p:sp>
      <p:sp>
        <p:nvSpPr>
          <p:cNvPr id="17" name="Edited shape 7"/>
          <p:cNvSpPr txBox="1"/>
          <p:nvPr/>
        </p:nvSpPr>
        <p:spPr>
          <a:xfrm>
            <a:off x="713232" y="5669280"/>
            <a:ext cx="10332720" cy="594360"/>
          </a:xfrm>
          <a:prstGeom prst="rect">
            <a:avLst/>
          </a:prstGeom>
          <a:solidFill>
            <a:srgbClr val="07578C"/>
          </a:solidFill>
          <a:ln w="9525">
            <a:noFill/>
          </a:ln>
        </p:spPr>
      </p:sp>
      <p:sp>
        <p:nvSpPr>
          <p:cNvPr id="18" name="Edited shape 8"/>
          <p:cNvSpPr txBox="1"/>
          <p:nvPr/>
        </p:nvSpPr>
        <p:spPr>
          <a:xfrm>
            <a:off x="841248" y="5797296"/>
            <a:ext cx="9875520" cy="393192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Цель встречи — согласовать проверку пользы на повседневных задачах</a:t>
            </a:r>
            <a:endParaRPr lang="ru-RU" sz="1700"/>
          </a:p>
        </p:txBody>
      </p:sp>
    </p:spTree>
    <p:extLst>
      <p:ext uri="{BB962C8B-B14F-4D97-AF65-F5344CB8AC3E}">
        <p14:creationId xmlns:p14="http://schemas.microsoft.com/office/powerpoint/2010/main" val="1286200481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Edited shape 3"/>
          <p:cNvSpPr txBox="1"/>
          <p:nvPr/>
        </p:nvSpPr>
        <p:spPr>
          <a:xfrm>
            <a:off x="502920" y="1307592"/>
            <a:ext cx="11228832" cy="5285232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14" name="Edited shape 4"/>
          <p:cNvSpPr txBox="1"/>
          <p:nvPr/>
        </p:nvSpPr>
        <p:spPr>
          <a:xfrm>
            <a:off x="841248" y="365760"/>
            <a:ext cx="8549640" cy="68580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2800" b="1">
                <a:solidFill>
                  <a:srgbClr val="163D72"/>
                </a:solidFill>
                <a:latin typeface="Arial"/>
                <a:ea typeface="Arial"/>
                <a:cs typeface="Arial"/>
              </a:rPr>
              <a:t>Что показывает прототип</a:t>
            </a:r>
            <a:endParaRPr lang="ru-RU" sz="2800"/>
          </a:p>
        </p:txBody>
      </p:sp>
      <p:sp>
        <p:nvSpPr>
          <p:cNvPr id="15" name="Edited shape 5"/>
          <p:cNvSpPr txBox="1"/>
          <p:nvPr/>
        </p:nvSpPr>
        <p:spPr>
          <a:xfrm>
            <a:off x="859536" y="1499616"/>
            <a:ext cx="10515600" cy="36576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400" b="1">
                <a:solidFill>
                  <a:srgbClr val="0072BC"/>
                </a:solidFill>
                <a:latin typeface="Arial"/>
                <a:ea typeface="Arial"/>
                <a:cs typeface="Arial"/>
              </a:rPr>
              <a:t>СКРИНШОТ ИСХОДНОЙ ДЕМОНСТРАЦИИ • готовность функций сверяем перед пилотом</a:t>
            </a:r>
            <a:endParaRPr lang="ru-RU" sz="1400"/>
          </a:p>
        </p:txBody>
      </p:sp>
      <p:sp>
        <p:nvSpPr>
          <p:cNvPr id="16" name="Edited shape 6"/>
          <p:cNvSpPr txBox="1"/>
          <p:nvPr/>
        </p:nvSpPr>
        <p:spPr>
          <a:xfrm>
            <a:off x="10972800" y="6565392"/>
            <a:ext cx="320040" cy="201168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000" b="0">
                <a:solidFill>
                  <a:srgbClr val="52657B"/>
                </a:solidFill>
                <a:latin typeface="Arial"/>
                <a:ea typeface="Arial"/>
                <a:cs typeface="Arial"/>
              </a:rPr>
              <a:t>2</a:t>
            </a:r>
            <a:endParaRPr lang="ru-RU" sz="1000"/>
          </a:p>
        </p:txBody>
      </p:sp>
      <p:pic>
        <p:nvPicPr>
          <p:cNvPr id="17" name="Picture 4" descr="proto_main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039112"/>
            <a:ext cx="6675120" cy="3730752"/>
          </a:xfrm>
          <a:prstGeom prst="rect">
            <a:avLst/>
          </a:prstGeom>
        </p:spPr>
      </p:pic>
      <p:sp>
        <p:nvSpPr>
          <p:cNvPr id="18" name="Edited shape 8"/>
          <p:cNvSpPr txBox="1"/>
          <p:nvPr/>
        </p:nvSpPr>
        <p:spPr>
          <a:xfrm>
            <a:off x="7818120" y="2029968"/>
            <a:ext cx="3429000" cy="1143000"/>
          </a:xfrm>
          <a:prstGeom prst="rect">
            <a:avLst/>
          </a:prstGeom>
          <a:solidFill>
            <a:srgbClr val="F1F6FB"/>
          </a:solidFill>
          <a:ln w="9525">
            <a:noFill/>
          </a:ln>
        </p:spPr>
      </p:sp>
      <p:sp>
        <p:nvSpPr>
          <p:cNvPr id="19" name="Edited shape 9"/>
          <p:cNvSpPr txBox="1"/>
          <p:nvPr/>
        </p:nvSpPr>
        <p:spPr>
          <a:xfrm>
            <a:off x="7982712" y="2185416"/>
            <a:ext cx="3099816" cy="41148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2000" b="1">
                <a:solidFill>
                  <a:srgbClr val="163D72"/>
                </a:solidFill>
                <a:latin typeface="Arial"/>
                <a:ea typeface="Arial"/>
                <a:cs typeface="Arial"/>
              </a:rPr>
              <a:t>1  Найти документ</a:t>
            </a:r>
            <a:endParaRPr lang="ru-RU" sz="2000"/>
          </a:p>
        </p:txBody>
      </p:sp>
      <p:sp>
        <p:nvSpPr>
          <p:cNvPr id="20" name="Edited shape 10"/>
          <p:cNvSpPr txBox="1"/>
          <p:nvPr/>
        </p:nvSpPr>
        <p:spPr>
          <a:xfrm>
            <a:off x="7982712" y="2615184"/>
            <a:ext cx="3099816" cy="50292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6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Слова в тексте, реквизиты</a:t>
            </a:r>
            <a:endParaRPr lang="ru-RU" sz="1600"/>
          </a:p>
          <a:p>
            <a:pPr>
              <a:spcAft>
                <a:spcPts val="200"/>
              </a:spcAft>
            </a:pPr>
            <a:r>
              <a:rPr lang="ru-RU" sz="16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и история версий</a:t>
            </a:r>
            <a:endParaRPr lang="ru-RU" sz="1600"/>
          </a:p>
        </p:txBody>
      </p:sp>
      <p:sp>
        <p:nvSpPr>
          <p:cNvPr id="21" name="Edited shape 11"/>
          <p:cNvSpPr txBox="1"/>
          <p:nvPr/>
        </p:nvSpPr>
        <p:spPr>
          <a:xfrm>
            <a:off x="7818120" y="3355848"/>
            <a:ext cx="3429000" cy="1143000"/>
          </a:xfrm>
          <a:prstGeom prst="rect">
            <a:avLst/>
          </a:prstGeom>
          <a:solidFill>
            <a:srgbClr val="F1F6FB"/>
          </a:solidFill>
          <a:ln w="9525">
            <a:noFill/>
          </a:ln>
        </p:spPr>
      </p:sp>
      <p:sp>
        <p:nvSpPr>
          <p:cNvPr id="22" name="Edited shape 12"/>
          <p:cNvSpPr txBox="1"/>
          <p:nvPr/>
        </p:nvSpPr>
        <p:spPr>
          <a:xfrm>
            <a:off x="7982712" y="3511296"/>
            <a:ext cx="3099816" cy="41148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2000" b="1">
                <a:solidFill>
                  <a:srgbClr val="163D72"/>
                </a:solidFill>
                <a:latin typeface="Arial"/>
                <a:ea typeface="Arial"/>
                <a:cs typeface="Arial"/>
              </a:rPr>
              <a:t>2  Повторить задачу</a:t>
            </a:r>
            <a:endParaRPr lang="ru-RU" sz="2000"/>
          </a:p>
        </p:txBody>
      </p:sp>
      <p:sp>
        <p:nvSpPr>
          <p:cNvPr id="23" name="Edited shape 13"/>
          <p:cNvSpPr txBox="1"/>
          <p:nvPr/>
        </p:nvSpPr>
        <p:spPr>
          <a:xfrm>
            <a:off x="7982712" y="3941064"/>
            <a:ext cx="3099816" cy="50292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6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Личные шаблоны</a:t>
            </a:r>
            <a:endParaRPr lang="ru-RU" sz="1600"/>
          </a:p>
          <a:p>
            <a:pPr>
              <a:spcAft>
                <a:spcPts val="200"/>
              </a:spcAft>
            </a:pPr>
            <a:r>
              <a:rPr lang="ru-RU" sz="16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и рабочие разделы</a:t>
            </a:r>
            <a:endParaRPr lang="ru-RU" sz="1600"/>
          </a:p>
        </p:txBody>
      </p:sp>
      <p:sp>
        <p:nvSpPr>
          <p:cNvPr id="24" name="Edited shape 14"/>
          <p:cNvSpPr txBox="1"/>
          <p:nvPr/>
        </p:nvSpPr>
        <p:spPr>
          <a:xfrm>
            <a:off x="7818120" y="4681728"/>
            <a:ext cx="3429000" cy="1143000"/>
          </a:xfrm>
          <a:prstGeom prst="rect">
            <a:avLst/>
          </a:prstGeom>
          <a:solidFill>
            <a:srgbClr val="F1F6FB"/>
          </a:solidFill>
          <a:ln w="9525">
            <a:noFill/>
          </a:ln>
        </p:spPr>
      </p:sp>
      <p:sp>
        <p:nvSpPr>
          <p:cNvPr id="25" name="Edited shape 15"/>
          <p:cNvSpPr txBox="1"/>
          <p:nvPr/>
        </p:nvSpPr>
        <p:spPr>
          <a:xfrm>
            <a:off x="7982712" y="4837176"/>
            <a:ext cx="3099816" cy="41148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2000" b="1">
                <a:solidFill>
                  <a:srgbClr val="163D72"/>
                </a:solidFill>
                <a:latin typeface="Arial"/>
                <a:ea typeface="Arial"/>
                <a:cs typeface="Arial"/>
              </a:rPr>
              <a:t>3  Сохранить контекст</a:t>
            </a:r>
            <a:endParaRPr lang="ru-RU" sz="2000"/>
          </a:p>
        </p:txBody>
      </p:sp>
      <p:sp>
        <p:nvSpPr>
          <p:cNvPr id="26" name="Edited shape 16"/>
          <p:cNvSpPr txBox="1"/>
          <p:nvPr/>
        </p:nvSpPr>
        <p:spPr>
          <a:xfrm>
            <a:off x="7982712" y="5266944"/>
            <a:ext cx="3099816" cy="50292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6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Карточки в новых вкладках</a:t>
            </a:r>
            <a:endParaRPr lang="ru-RU" sz="1600"/>
          </a:p>
          <a:p>
            <a:pPr>
              <a:spcAft>
                <a:spcPts val="200"/>
              </a:spcAft>
            </a:pPr>
            <a:r>
              <a:rPr lang="ru-RU" sz="16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и выгрузка реестра</a:t>
            </a:r>
            <a:endParaRPr lang="ru-RU" sz="1600"/>
          </a:p>
        </p:txBody>
      </p:sp>
      <p:sp>
        <p:nvSpPr>
          <p:cNvPr id="27" name="Edited shape 17"/>
          <p:cNvSpPr txBox="1"/>
          <p:nvPr/>
        </p:nvSpPr>
        <p:spPr>
          <a:xfrm>
            <a:off x="859536" y="6291072"/>
            <a:ext cx="10287000" cy="36576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200" b="0">
                <a:solidFill>
                  <a:srgbClr val="52657B"/>
                </a:solidFill>
                <a:latin typeface="Arial"/>
                <a:ea typeface="Arial"/>
                <a:cs typeface="Arial"/>
              </a:rPr>
              <a:t>Текстовый поиск и поиск по смыслу — разные режимы. ИИ-проверке нужны настроенные правила и модель.</a:t>
            </a:r>
            <a:endParaRPr lang="ru-RU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Edited shape 3"/>
          <p:cNvSpPr txBox="1"/>
          <p:nvPr/>
        </p:nvSpPr>
        <p:spPr>
          <a:xfrm>
            <a:off x="502920" y="1307592"/>
            <a:ext cx="11228832" cy="5285232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14" name="Edited shape 4"/>
          <p:cNvSpPr txBox="1"/>
          <p:nvPr/>
        </p:nvSpPr>
        <p:spPr>
          <a:xfrm>
            <a:off x="841248" y="365760"/>
            <a:ext cx="8549640" cy="68580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2800" b="1">
                <a:solidFill>
                  <a:srgbClr val="163D72"/>
                </a:solidFill>
                <a:latin typeface="Arial"/>
                <a:ea typeface="Arial"/>
                <a:cs typeface="Arial"/>
              </a:rPr>
              <a:t>Данные и переписка: проверить на примере</a:t>
            </a:r>
            <a:endParaRPr lang="ru-RU" sz="2800"/>
          </a:p>
        </p:txBody>
      </p:sp>
      <p:sp>
        <p:nvSpPr>
          <p:cNvPr id="15" name="Edited shape 5"/>
          <p:cNvSpPr txBox="1"/>
          <p:nvPr/>
        </p:nvSpPr>
        <p:spPr>
          <a:xfrm>
            <a:off x="859536" y="1499616"/>
            <a:ext cx="10515600" cy="36576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400" b="1">
                <a:solidFill>
                  <a:srgbClr val="0072BC"/>
                </a:solidFill>
                <a:latin typeface="Arial"/>
                <a:ea typeface="Arial"/>
                <a:cs typeface="Arial"/>
              </a:rPr>
              <a:t>ЭКСПЕРИМЕНТАЛЬНЫЙ СЦЕНАРИЙ • схема результата, а не подтверждение точности</a:t>
            </a:r>
            <a:endParaRPr lang="ru-RU" sz="1400"/>
          </a:p>
        </p:txBody>
      </p:sp>
      <p:sp>
        <p:nvSpPr>
          <p:cNvPr id="16" name="Edited shape 6"/>
          <p:cNvSpPr txBox="1"/>
          <p:nvPr/>
        </p:nvSpPr>
        <p:spPr>
          <a:xfrm>
            <a:off x="10972800" y="6565392"/>
            <a:ext cx="320040" cy="201168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000" b="0">
                <a:solidFill>
                  <a:srgbClr val="52657B"/>
                </a:solidFill>
                <a:latin typeface="Arial"/>
                <a:ea typeface="Arial"/>
                <a:cs typeface="Arial"/>
              </a:rPr>
              <a:t>3</a:t>
            </a:r>
            <a:endParaRPr lang="ru-RU" sz="1000"/>
          </a:p>
        </p:txBody>
      </p:sp>
      <p:sp>
        <p:nvSpPr>
          <p:cNvPr id="17" name="Edited shape 7"/>
          <p:cNvSpPr txBox="1"/>
          <p:nvPr/>
        </p:nvSpPr>
        <p:spPr>
          <a:xfrm>
            <a:off x="859536" y="2084832"/>
            <a:ext cx="3255264" cy="2514600"/>
          </a:xfrm>
          <a:prstGeom prst="rect">
            <a:avLst/>
          </a:prstGeom>
          <a:solidFill>
            <a:srgbClr val="F1F6FB"/>
          </a:solidFill>
          <a:ln w="9525">
            <a:noFill/>
          </a:ln>
        </p:spPr>
      </p:sp>
      <p:sp>
        <p:nvSpPr>
          <p:cNvPr id="18" name="Edited shape 8"/>
          <p:cNvSpPr txBox="1"/>
          <p:nvPr/>
        </p:nvSpPr>
        <p:spPr>
          <a:xfrm>
            <a:off x="1024128" y="2240280"/>
            <a:ext cx="2926080" cy="41148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2000" b="1">
                <a:solidFill>
                  <a:srgbClr val="163D72"/>
                </a:solidFill>
                <a:latin typeface="Arial"/>
                <a:ea typeface="Arial"/>
                <a:cs typeface="Arial"/>
              </a:rPr>
              <a:t>01  Письмо</a:t>
            </a:r>
            <a:endParaRPr lang="ru-RU" sz="2000"/>
          </a:p>
        </p:txBody>
      </p:sp>
      <p:sp>
        <p:nvSpPr>
          <p:cNvPr id="19" name="Edited shape 9"/>
          <p:cNvSpPr txBox="1"/>
          <p:nvPr/>
        </p:nvSpPr>
        <p:spPr>
          <a:xfrm>
            <a:off x="1024128" y="2670048"/>
            <a:ext cx="2926080" cy="187452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6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Замечание по кабелю</a:t>
            </a:r>
            <a:endParaRPr lang="ru-RU" sz="1600"/>
          </a:p>
          <a:p>
            <a:pPr>
              <a:spcAft>
                <a:spcPts val="200"/>
              </a:spcAft>
            </a:pPr>
            <a:r>
              <a:rPr lang="ru-RU" sz="16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Код оборудования (KKS)</a:t>
            </a:r>
            <a:endParaRPr lang="ru-RU" sz="1600"/>
          </a:p>
          <a:p>
            <a:pPr>
              <a:spcAft>
                <a:spcPts val="200"/>
              </a:spcAft>
            </a:pPr>
            <a:r>
              <a:rPr lang="ru-RU" sz="16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Марка, сечение, длина</a:t>
            </a:r>
            <a:endParaRPr lang="ru-RU" sz="1600"/>
          </a:p>
        </p:txBody>
      </p:sp>
      <p:sp>
        <p:nvSpPr>
          <p:cNvPr id="20" name="Edited shape 10"/>
          <p:cNvSpPr txBox="1"/>
          <p:nvPr/>
        </p:nvSpPr>
        <p:spPr>
          <a:xfrm>
            <a:off x="4352544" y="2084832"/>
            <a:ext cx="3255264" cy="2514600"/>
          </a:xfrm>
          <a:prstGeom prst="rect">
            <a:avLst/>
          </a:prstGeom>
          <a:solidFill>
            <a:srgbClr val="F1F6FB"/>
          </a:solidFill>
          <a:ln w="9525">
            <a:noFill/>
          </a:ln>
        </p:spPr>
      </p:sp>
      <p:sp>
        <p:nvSpPr>
          <p:cNvPr id="21" name="Edited shape 11"/>
          <p:cNvSpPr txBox="1"/>
          <p:nvPr/>
        </p:nvSpPr>
        <p:spPr>
          <a:xfrm>
            <a:off x="4517136" y="2240280"/>
            <a:ext cx="2926080" cy="41148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2000" b="1">
                <a:solidFill>
                  <a:srgbClr val="163D72"/>
                </a:solidFill>
                <a:latin typeface="Arial"/>
                <a:ea typeface="Arial"/>
                <a:cs typeface="Arial"/>
              </a:rPr>
              <a:t>02  Данные</a:t>
            </a:r>
            <a:endParaRPr lang="ru-RU" sz="2000"/>
          </a:p>
        </p:txBody>
      </p:sp>
      <p:sp>
        <p:nvSpPr>
          <p:cNvPr id="22" name="Edited shape 12"/>
          <p:cNvSpPr txBox="1"/>
          <p:nvPr/>
        </p:nvSpPr>
        <p:spPr>
          <a:xfrm>
            <a:off x="4517136" y="2670048"/>
            <a:ext cx="2926080" cy="187452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6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Значение и цитата</a:t>
            </a:r>
            <a:endParaRPr lang="ru-RU" sz="1600"/>
          </a:p>
          <a:p>
            <a:pPr>
              <a:spcAft>
                <a:spcPts val="200"/>
              </a:spcAft>
            </a:pPr>
            <a:r>
              <a:rPr lang="ru-RU" sz="16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Ссылка на исходную версию</a:t>
            </a:r>
            <a:endParaRPr lang="ru-RU" sz="1600"/>
          </a:p>
          <a:p>
            <a:pPr>
              <a:spcAft>
                <a:spcPts val="200"/>
              </a:spcAft>
            </a:pPr>
            <a:r>
              <a:rPr lang="ru-RU" sz="16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Проверка специалистом</a:t>
            </a:r>
            <a:endParaRPr lang="ru-RU" sz="1600"/>
          </a:p>
        </p:txBody>
      </p:sp>
      <p:sp>
        <p:nvSpPr>
          <p:cNvPr id="23" name="Edited shape 13"/>
          <p:cNvSpPr txBox="1"/>
          <p:nvPr/>
        </p:nvSpPr>
        <p:spPr>
          <a:xfrm>
            <a:off x="7845552" y="2084832"/>
            <a:ext cx="3255264" cy="2514600"/>
          </a:xfrm>
          <a:prstGeom prst="rect">
            <a:avLst/>
          </a:prstGeom>
          <a:solidFill>
            <a:srgbClr val="F1F6FB"/>
          </a:solidFill>
          <a:ln w="9525">
            <a:noFill/>
          </a:ln>
        </p:spPr>
      </p:sp>
      <p:sp>
        <p:nvSpPr>
          <p:cNvPr id="24" name="Edited shape 14"/>
          <p:cNvSpPr txBox="1"/>
          <p:nvPr/>
        </p:nvSpPr>
        <p:spPr>
          <a:xfrm>
            <a:off x="8010144" y="2240280"/>
            <a:ext cx="2926080" cy="41148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2000" b="1">
                <a:solidFill>
                  <a:srgbClr val="163D72"/>
                </a:solidFill>
                <a:latin typeface="Arial"/>
                <a:ea typeface="Arial"/>
                <a:cs typeface="Arial"/>
              </a:rPr>
              <a:t>03  Переписка</a:t>
            </a:r>
            <a:endParaRPr lang="ru-RU" sz="2000"/>
          </a:p>
        </p:txBody>
      </p:sp>
      <p:sp>
        <p:nvSpPr>
          <p:cNvPr id="25" name="Edited shape 15"/>
          <p:cNvSpPr txBox="1"/>
          <p:nvPr/>
        </p:nvSpPr>
        <p:spPr>
          <a:xfrm>
            <a:off x="8010144" y="2670048"/>
            <a:ext cx="2926080" cy="187452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6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Кандидаты в одну группу</a:t>
            </a:r>
            <a:endParaRPr lang="ru-RU" sz="1600"/>
          </a:p>
          <a:p>
            <a:pPr>
              <a:spcAft>
                <a:spcPts val="200"/>
              </a:spcAft>
            </a:pPr>
            <a:r>
              <a:rPr lang="ru-RU" sz="16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Основание связи</a:t>
            </a:r>
            <a:endParaRPr lang="ru-RU" sz="1600"/>
          </a:p>
          <a:p>
            <a:pPr>
              <a:spcAft>
                <a:spcPts val="200"/>
              </a:spcAft>
            </a:pPr>
            <a:r>
              <a:rPr lang="ru-RU" sz="16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Подтверждение человеком</a:t>
            </a:r>
            <a:endParaRPr lang="ru-RU" sz="1600"/>
          </a:p>
        </p:txBody>
      </p:sp>
      <p:sp>
        <p:nvSpPr>
          <p:cNvPr id="26" name="Edited shape 16"/>
          <p:cNvSpPr txBox="1"/>
          <p:nvPr/>
        </p:nvSpPr>
        <p:spPr>
          <a:xfrm>
            <a:off x="960120" y="4937760"/>
            <a:ext cx="100584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2300" b="1">
                <a:solidFill>
                  <a:srgbClr val="163D72"/>
                </a:solidFill>
                <a:latin typeface="Arial"/>
                <a:ea typeface="Arial"/>
                <a:cs typeface="Arial"/>
              </a:rPr>
              <a:t>Найденная связь ещё не означает, что замечание закрыто.</a:t>
            </a:r>
            <a:endParaRPr lang="ru-RU" sz="2300"/>
          </a:p>
        </p:txBody>
      </p:sp>
      <p:sp>
        <p:nvSpPr>
          <p:cNvPr id="27" name="Edited shape 17"/>
          <p:cNvSpPr txBox="1"/>
          <p:nvPr/>
        </p:nvSpPr>
        <p:spPr>
          <a:xfrm>
            <a:off x="960120" y="5522976"/>
            <a:ext cx="9966960" cy="566928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20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В пилоте измерим время поиска и долю верных / пропущенных связей.</a:t>
            </a:r>
            <a:endParaRPr lang="ru-RU" sz="2000"/>
          </a:p>
        </p:txBody>
      </p:sp>
      <p:sp>
        <p:nvSpPr>
          <p:cNvPr id="28" name="Edited shape 18"/>
          <p:cNvSpPr txBox="1"/>
          <p:nvPr/>
        </p:nvSpPr>
        <p:spPr>
          <a:xfrm>
            <a:off x="859536" y="6291072"/>
            <a:ext cx="10287000" cy="36576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200" b="0">
                <a:solidFill>
                  <a:srgbClr val="52657B"/>
                </a:solidFill>
                <a:latin typeface="Arial"/>
                <a:ea typeface="Arial"/>
                <a:cs typeface="Arial"/>
              </a:rPr>
              <a:t>Схема иллюстрирует ожидаемый сценарий. Группировка документов не заменяет согласование.</a:t>
            </a:r>
            <a:endParaRPr lang="ru-RU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Edited shape 3"/>
          <p:cNvSpPr txBox="1"/>
          <p:nvPr/>
        </p:nvSpPr>
        <p:spPr>
          <a:xfrm>
            <a:off x="502920" y="1307592"/>
            <a:ext cx="11228832" cy="5285232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14" name="Edited shape 4"/>
          <p:cNvSpPr txBox="1"/>
          <p:nvPr/>
        </p:nvSpPr>
        <p:spPr>
          <a:xfrm>
            <a:off x="841248" y="365760"/>
            <a:ext cx="8549640" cy="68580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2800" b="1">
                <a:solidFill>
                  <a:srgbClr val="163D72"/>
                </a:solidFill>
                <a:latin typeface="Arial"/>
                <a:ea typeface="Arial"/>
                <a:cs typeface="Arial"/>
              </a:rPr>
              <a:t>Повторная карточка из личного шаблона</a:t>
            </a:r>
            <a:endParaRPr lang="ru-RU" sz="2800"/>
          </a:p>
        </p:txBody>
      </p:sp>
      <p:sp>
        <p:nvSpPr>
          <p:cNvPr id="15" name="Edited shape 5"/>
          <p:cNvSpPr txBox="1"/>
          <p:nvPr/>
        </p:nvSpPr>
        <p:spPr>
          <a:xfrm>
            <a:off x="859536" y="1499616"/>
            <a:ext cx="10515600" cy="36576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400" b="1">
                <a:solidFill>
                  <a:srgbClr val="0072BC"/>
                </a:solidFill>
                <a:latin typeface="Arial"/>
                <a:ea typeface="Arial"/>
                <a:cs typeface="Arial"/>
              </a:rPr>
              <a:t>ПОЛЬЗОВАТЕЛЬСКИЙ СЦЕНАРИЙ • реквизиты и маршрут можно использовать повторно</a:t>
            </a:r>
            <a:endParaRPr lang="ru-RU" sz="1400"/>
          </a:p>
        </p:txBody>
      </p:sp>
      <p:sp>
        <p:nvSpPr>
          <p:cNvPr id="16" name="Edited shape 6"/>
          <p:cNvSpPr txBox="1"/>
          <p:nvPr/>
        </p:nvSpPr>
        <p:spPr>
          <a:xfrm>
            <a:off x="10972800" y="6565392"/>
            <a:ext cx="320040" cy="201168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000" b="0">
                <a:solidFill>
                  <a:srgbClr val="52657B"/>
                </a:solidFill>
                <a:latin typeface="Arial"/>
                <a:ea typeface="Arial"/>
                <a:cs typeface="Arial"/>
              </a:rPr>
              <a:t>4</a:t>
            </a:r>
            <a:endParaRPr lang="ru-RU" sz="1000"/>
          </a:p>
        </p:txBody>
      </p:sp>
      <p:pic>
        <p:nvPicPr>
          <p:cNvPr id="17" name="Picture 2" descr="slide4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48256"/>
            <a:ext cx="5852160" cy="4005072"/>
          </a:xfrm>
          <a:prstGeom prst="rect">
            <a:avLst/>
          </a:prstGeom>
        </p:spPr>
      </p:pic>
      <p:sp>
        <p:nvSpPr>
          <p:cNvPr id="18" name="Edited shape 8"/>
          <p:cNvSpPr txBox="1"/>
          <p:nvPr/>
        </p:nvSpPr>
        <p:spPr>
          <a:xfrm>
            <a:off x="7114032" y="2057400"/>
            <a:ext cx="4023360" cy="1170432"/>
          </a:xfrm>
          <a:prstGeom prst="rect">
            <a:avLst/>
          </a:prstGeom>
          <a:solidFill>
            <a:srgbClr val="F1F6FB"/>
          </a:solidFill>
          <a:ln w="9525">
            <a:noFill/>
          </a:ln>
        </p:spPr>
      </p:sp>
      <p:sp>
        <p:nvSpPr>
          <p:cNvPr id="19" name="Edited shape 9"/>
          <p:cNvSpPr txBox="1"/>
          <p:nvPr/>
        </p:nvSpPr>
        <p:spPr>
          <a:xfrm>
            <a:off x="7278624" y="2212848"/>
            <a:ext cx="3694176" cy="41148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2000" b="1">
                <a:solidFill>
                  <a:srgbClr val="163D72"/>
                </a:solidFill>
                <a:latin typeface="Arial"/>
                <a:ea typeface="Arial"/>
                <a:cs typeface="Arial"/>
              </a:rPr>
              <a:t>Один раз настроить</a:t>
            </a:r>
            <a:endParaRPr lang="ru-RU" sz="2000"/>
          </a:p>
        </p:txBody>
      </p:sp>
      <p:sp>
        <p:nvSpPr>
          <p:cNvPr id="20" name="Edited shape 10"/>
          <p:cNvSpPr txBox="1"/>
          <p:nvPr/>
        </p:nvSpPr>
        <p:spPr>
          <a:xfrm>
            <a:off x="7278624" y="2642616"/>
            <a:ext cx="3694176" cy="530352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6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Тип, реквизиты, адресаты</a:t>
            </a:r>
            <a:endParaRPr lang="ru-RU" sz="1600"/>
          </a:p>
          <a:p>
            <a:pPr>
              <a:spcAft>
                <a:spcPts val="200"/>
              </a:spcAft>
            </a:pPr>
            <a:r>
              <a:rPr lang="ru-RU" sz="16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и маршрут рассмотрения</a:t>
            </a:r>
            <a:endParaRPr lang="ru-RU" sz="1600"/>
          </a:p>
        </p:txBody>
      </p:sp>
      <p:sp>
        <p:nvSpPr>
          <p:cNvPr id="21" name="Edited shape 11"/>
          <p:cNvSpPr txBox="1"/>
          <p:nvPr/>
        </p:nvSpPr>
        <p:spPr>
          <a:xfrm>
            <a:off x="7114032" y="3419856"/>
            <a:ext cx="4023360" cy="1170432"/>
          </a:xfrm>
          <a:prstGeom prst="rect">
            <a:avLst/>
          </a:prstGeom>
          <a:solidFill>
            <a:srgbClr val="F1F6FB"/>
          </a:solidFill>
          <a:ln w="9525">
            <a:noFill/>
          </a:ln>
        </p:spPr>
      </p:sp>
      <p:sp>
        <p:nvSpPr>
          <p:cNvPr id="22" name="Edited shape 12"/>
          <p:cNvSpPr txBox="1"/>
          <p:nvPr/>
        </p:nvSpPr>
        <p:spPr>
          <a:xfrm>
            <a:off x="7278624" y="3575304"/>
            <a:ext cx="3694176" cy="41148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2000" b="1">
                <a:solidFill>
                  <a:srgbClr val="163D72"/>
                </a:solidFill>
                <a:latin typeface="Arial"/>
                <a:ea typeface="Arial"/>
                <a:cs typeface="Arial"/>
              </a:rPr>
              <a:t>Использовать повторно</a:t>
            </a:r>
            <a:endParaRPr lang="ru-RU" sz="2000"/>
          </a:p>
        </p:txBody>
      </p:sp>
      <p:sp>
        <p:nvSpPr>
          <p:cNvPr id="23" name="Edited shape 13"/>
          <p:cNvSpPr txBox="1"/>
          <p:nvPr/>
        </p:nvSpPr>
        <p:spPr>
          <a:xfrm>
            <a:off x="7278624" y="4005072"/>
            <a:ext cx="3694176" cy="530352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6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Выбрать шаблон и уточнить</a:t>
            </a:r>
            <a:endParaRPr lang="ru-RU" sz="1600"/>
          </a:p>
          <a:p>
            <a:pPr>
              <a:spcAft>
                <a:spcPts val="200"/>
              </a:spcAft>
            </a:pPr>
            <a:r>
              <a:rPr lang="ru-RU" sz="16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данные новой карточки</a:t>
            </a:r>
            <a:endParaRPr lang="ru-RU" sz="1600"/>
          </a:p>
        </p:txBody>
      </p:sp>
      <p:sp>
        <p:nvSpPr>
          <p:cNvPr id="24" name="Edited shape 14"/>
          <p:cNvSpPr txBox="1"/>
          <p:nvPr/>
        </p:nvSpPr>
        <p:spPr>
          <a:xfrm>
            <a:off x="7114032" y="4782312"/>
            <a:ext cx="4023360" cy="1170432"/>
          </a:xfrm>
          <a:prstGeom prst="rect">
            <a:avLst/>
          </a:prstGeom>
          <a:solidFill>
            <a:srgbClr val="F1F6FB"/>
          </a:solidFill>
          <a:ln w="9525">
            <a:noFill/>
          </a:ln>
        </p:spPr>
      </p:sp>
      <p:sp>
        <p:nvSpPr>
          <p:cNvPr id="25" name="Edited shape 15"/>
          <p:cNvSpPr txBox="1"/>
          <p:nvPr/>
        </p:nvSpPr>
        <p:spPr>
          <a:xfrm>
            <a:off x="7278624" y="4937760"/>
            <a:ext cx="3694176" cy="41148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2000" b="1">
                <a:solidFill>
                  <a:srgbClr val="163D72"/>
                </a:solidFill>
                <a:latin typeface="Arial"/>
                <a:ea typeface="Arial"/>
                <a:cs typeface="Arial"/>
              </a:rPr>
              <a:t>Измерить в пилоте</a:t>
            </a:r>
            <a:endParaRPr lang="ru-RU" sz="2000"/>
          </a:p>
        </p:txBody>
      </p:sp>
      <p:sp>
        <p:nvSpPr>
          <p:cNvPr id="26" name="Edited shape 16"/>
          <p:cNvSpPr txBox="1"/>
          <p:nvPr/>
        </p:nvSpPr>
        <p:spPr>
          <a:xfrm>
            <a:off x="7278624" y="5367528"/>
            <a:ext cx="3694176" cy="530352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6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Время создания карточки</a:t>
            </a:r>
            <a:endParaRPr lang="ru-RU" sz="1600"/>
          </a:p>
          <a:p>
            <a:pPr>
              <a:spcAft>
                <a:spcPts val="200"/>
              </a:spcAft>
            </a:pPr>
            <a:r>
              <a:rPr lang="ru-RU" sz="16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и число ручных заполнений</a:t>
            </a:r>
            <a:endParaRPr lang="ru-RU" sz="1600"/>
          </a:p>
        </p:txBody>
      </p:sp>
      <p:sp>
        <p:nvSpPr>
          <p:cNvPr id="27" name="Edited shape 17"/>
          <p:cNvSpPr txBox="1"/>
          <p:nvPr/>
        </p:nvSpPr>
        <p:spPr>
          <a:xfrm>
            <a:off x="859536" y="6291072"/>
            <a:ext cx="10287000" cy="36576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200" b="0">
                <a:solidFill>
                  <a:srgbClr val="52657B"/>
                </a:solidFill>
                <a:latin typeface="Arial"/>
                <a:ea typeface="Arial"/>
                <a:cs typeface="Arial"/>
              </a:rPr>
              <a:t>На скриншоте учебные данные. Шаблон сохраняет настройки карточки; файл документа загружается отдельно.</a:t>
            </a:r>
            <a:endParaRPr lang="ru-RU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Edited shape 3"/>
          <p:cNvSpPr txBox="1"/>
          <p:nvPr/>
        </p:nvSpPr>
        <p:spPr>
          <a:xfrm>
            <a:off x="502920" y="1307592"/>
            <a:ext cx="11228832" cy="5285232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14" name="Edited shape 4"/>
          <p:cNvSpPr txBox="1"/>
          <p:nvPr/>
        </p:nvSpPr>
        <p:spPr>
          <a:xfrm>
            <a:off x="841248" y="365760"/>
            <a:ext cx="8549640" cy="68580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2800" b="1">
                <a:solidFill>
                  <a:srgbClr val="163D72"/>
                </a:solidFill>
                <a:latin typeface="Arial"/>
                <a:ea typeface="Arial"/>
                <a:cs typeface="Arial"/>
              </a:rPr>
              <a:t>Сравнить документы, сохранив реестр</a:t>
            </a:r>
            <a:endParaRPr lang="ru-RU" sz="2800"/>
          </a:p>
        </p:txBody>
      </p:sp>
      <p:sp>
        <p:nvSpPr>
          <p:cNvPr id="15" name="Edited shape 5"/>
          <p:cNvSpPr txBox="1"/>
          <p:nvPr/>
        </p:nvSpPr>
        <p:spPr>
          <a:xfrm>
            <a:off x="859536" y="1499616"/>
            <a:ext cx="10515600" cy="36576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400" b="1">
                <a:solidFill>
                  <a:srgbClr val="0072BC"/>
                </a:solidFill>
                <a:latin typeface="Arial"/>
                <a:ea typeface="Arial"/>
                <a:cs typeface="Arial"/>
              </a:rPr>
              <a:t>ПОЛЬЗОВАТЕЛЬСКИЙ СЦЕНАРИЙ • отдельную вкладку можно вынести в соседнее окно</a:t>
            </a:r>
            <a:endParaRPr lang="ru-RU" sz="1400"/>
          </a:p>
        </p:txBody>
      </p:sp>
      <p:sp>
        <p:nvSpPr>
          <p:cNvPr id="16" name="Edited shape 6"/>
          <p:cNvSpPr txBox="1"/>
          <p:nvPr/>
        </p:nvSpPr>
        <p:spPr>
          <a:xfrm>
            <a:off x="10972800" y="6565392"/>
            <a:ext cx="320040" cy="201168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000" b="0">
                <a:solidFill>
                  <a:srgbClr val="52657B"/>
                </a:solidFill>
                <a:latin typeface="Arial"/>
                <a:ea typeface="Arial"/>
                <a:cs typeface="Arial"/>
              </a:rPr>
              <a:t>5</a:t>
            </a:r>
            <a:endParaRPr lang="ru-RU" sz="1000"/>
          </a:p>
        </p:txBody>
      </p:sp>
      <p:sp>
        <p:nvSpPr>
          <p:cNvPr id="17" name="Edited shape 7"/>
          <p:cNvSpPr txBox="1"/>
          <p:nvPr/>
        </p:nvSpPr>
        <p:spPr>
          <a:xfrm>
            <a:off x="859536" y="2057400"/>
            <a:ext cx="5010912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8"/>
            </a:solidFill>
          </a:ln>
        </p:spPr>
      </p:sp>
      <p:sp>
        <p:nvSpPr>
          <p:cNvPr id="18" name="Edited shape 8"/>
          <p:cNvSpPr txBox="1"/>
          <p:nvPr/>
        </p:nvSpPr>
        <p:spPr>
          <a:xfrm>
            <a:off x="859536" y="2057400"/>
            <a:ext cx="5010912" cy="438912"/>
          </a:xfrm>
          <a:prstGeom prst="rect">
            <a:avLst/>
          </a:prstGeom>
          <a:solidFill>
            <a:srgbClr val="F1F6FB"/>
          </a:solidFill>
          <a:ln w="9525">
            <a:noFill/>
          </a:ln>
        </p:spPr>
      </p:sp>
      <p:sp>
        <p:nvSpPr>
          <p:cNvPr id="19" name="Edited shape 9"/>
          <p:cNvSpPr txBox="1"/>
          <p:nvPr/>
        </p:nvSpPr>
        <p:spPr>
          <a:xfrm>
            <a:off x="1005840" y="2148840"/>
            <a:ext cx="4663440" cy="256032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300" b="1">
                <a:solidFill>
                  <a:srgbClr val="163D72"/>
                </a:solidFill>
                <a:latin typeface="Arial"/>
                <a:ea typeface="Arial"/>
                <a:cs typeface="Arial"/>
              </a:rPr>
              <a:t>ОКНО 1 • РЕЕСТР</a:t>
            </a:r>
            <a:endParaRPr lang="ru-RU" sz="1300"/>
          </a:p>
        </p:txBody>
      </p:sp>
      <p:sp>
        <p:nvSpPr>
          <p:cNvPr id="20" name="Edited shape 10"/>
          <p:cNvSpPr txBox="1"/>
          <p:nvPr/>
        </p:nvSpPr>
        <p:spPr>
          <a:xfrm>
            <a:off x="6309360" y="2057400"/>
            <a:ext cx="5010912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E8"/>
            </a:solidFill>
          </a:ln>
        </p:spPr>
      </p:sp>
      <p:sp>
        <p:nvSpPr>
          <p:cNvPr id="21" name="Edited shape 11"/>
          <p:cNvSpPr txBox="1"/>
          <p:nvPr/>
        </p:nvSpPr>
        <p:spPr>
          <a:xfrm>
            <a:off x="6309360" y="2057400"/>
            <a:ext cx="5010912" cy="438912"/>
          </a:xfrm>
          <a:prstGeom prst="rect">
            <a:avLst/>
          </a:prstGeom>
          <a:solidFill>
            <a:srgbClr val="F1F6FB"/>
          </a:solidFill>
          <a:ln w="9525">
            <a:noFill/>
          </a:ln>
        </p:spPr>
      </p:sp>
      <p:sp>
        <p:nvSpPr>
          <p:cNvPr id="22" name="Edited shape 12"/>
          <p:cNvSpPr txBox="1"/>
          <p:nvPr/>
        </p:nvSpPr>
        <p:spPr>
          <a:xfrm>
            <a:off x="6455664" y="2148840"/>
            <a:ext cx="4663440" cy="256032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300" b="1">
                <a:solidFill>
                  <a:srgbClr val="163D72"/>
                </a:solidFill>
                <a:latin typeface="Arial"/>
                <a:ea typeface="Arial"/>
                <a:cs typeface="Arial"/>
              </a:rPr>
              <a:t>ОКНО 2 • КАРТОЧКА</a:t>
            </a:r>
            <a:endParaRPr lang="ru-RU" sz="1300"/>
          </a:p>
        </p:txBody>
      </p:sp>
      <p:pic>
        <p:nvPicPr>
          <p:cNvPr id="23" name="Picture 3" descr="slide5_shap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660904"/>
            <a:ext cx="4754880" cy="2286000"/>
          </a:xfrm>
          <a:prstGeom prst="rect">
            <a:avLst/>
          </a:prstGeom>
        </p:spPr>
      </p:pic>
      <p:sp>
        <p:nvSpPr>
          <p:cNvPr id="24" name="Edited shape 14"/>
          <p:cNvSpPr txBox="1"/>
          <p:nvPr/>
        </p:nvSpPr>
        <p:spPr>
          <a:xfrm>
            <a:off x="6492240" y="2715768"/>
            <a:ext cx="4590288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900" b="1">
                <a:solidFill>
                  <a:srgbClr val="163D72"/>
                </a:solidFill>
                <a:latin typeface="Arial"/>
                <a:ea typeface="Arial"/>
                <a:cs typeface="Arial"/>
              </a:rPr>
              <a:t>Карточка выбранного документа</a:t>
            </a:r>
            <a:endParaRPr lang="ru-RU" sz="1900"/>
          </a:p>
        </p:txBody>
      </p:sp>
      <p:sp>
        <p:nvSpPr>
          <p:cNvPr id="25" name="Edited shape 15"/>
          <p:cNvSpPr txBox="1"/>
          <p:nvPr/>
        </p:nvSpPr>
        <p:spPr>
          <a:xfrm>
            <a:off x="6492240" y="3319272"/>
            <a:ext cx="4553712" cy="50292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300" b="0">
                <a:solidFill>
                  <a:srgbClr val="52657B"/>
                </a:solidFill>
                <a:latin typeface="Arial"/>
                <a:ea typeface="Arial"/>
                <a:cs typeface="Arial"/>
              </a:rPr>
              <a:t>Фрагмент интерфейса из исходной презентации</a:t>
            </a:r>
            <a:endParaRPr lang="ru-RU" sz="1300"/>
          </a:p>
        </p:txBody>
      </p:sp>
      <p:pic>
        <p:nvPicPr>
          <p:cNvPr id="26" name="Picture 4" descr="slide5_shap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886200"/>
            <a:ext cx="4590288" cy="888797"/>
          </a:xfrm>
          <a:prstGeom prst="rect">
            <a:avLst/>
          </a:prstGeom>
        </p:spPr>
      </p:pic>
      <p:sp>
        <p:nvSpPr>
          <p:cNvPr id="27" name="Edited shape 17"/>
          <p:cNvSpPr txBox="1"/>
          <p:nvPr/>
        </p:nvSpPr>
        <p:spPr>
          <a:xfrm>
            <a:off x="960120" y="5477256"/>
            <a:ext cx="100584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2100" b="1">
                <a:solidFill>
                  <a:srgbClr val="163D72"/>
                </a:solidFill>
                <a:latin typeface="Arial"/>
                <a:ea typeface="Arial"/>
                <a:cs typeface="Arial"/>
              </a:rPr>
              <a:t>Открыть карточку по прямой ссылке — продолжить работу со списком.</a:t>
            </a:r>
            <a:endParaRPr lang="ru-RU" sz="2100"/>
          </a:p>
        </p:txBody>
      </p:sp>
      <p:sp>
        <p:nvSpPr>
          <p:cNvPr id="28" name="Edited shape 18"/>
          <p:cNvSpPr txBox="1"/>
          <p:nvPr/>
        </p:nvSpPr>
        <p:spPr>
          <a:xfrm>
            <a:off x="859536" y="6291072"/>
            <a:ext cx="10287000" cy="36576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200" b="0">
                <a:solidFill>
                  <a:srgbClr val="52657B"/>
                </a:solidFill>
                <a:latin typeface="Arial"/>
                <a:ea typeface="Arial"/>
                <a:cs typeface="Arial"/>
              </a:rPr>
              <a:t>Схема двух окон со скриншотами. В пилоте: время сравнения и число повторных поисков. Данные учебные.</a:t>
            </a:r>
            <a:endParaRPr lang="ru-RU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Edited shape 3"/>
          <p:cNvSpPr txBox="1"/>
          <p:nvPr/>
        </p:nvSpPr>
        <p:spPr>
          <a:xfrm>
            <a:off x="502920" y="1307592"/>
            <a:ext cx="11228832" cy="5285232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14" name="Edited shape 4"/>
          <p:cNvSpPr txBox="1"/>
          <p:nvPr/>
        </p:nvSpPr>
        <p:spPr>
          <a:xfrm>
            <a:off x="841248" y="365760"/>
            <a:ext cx="8549640" cy="68580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2800" b="1">
                <a:solidFill>
                  <a:srgbClr val="163D72"/>
                </a:solidFill>
                <a:latin typeface="Arial"/>
                <a:ea typeface="Arial"/>
                <a:cs typeface="Arial"/>
              </a:rPr>
              <a:t>Следующий этап: документы как данные</a:t>
            </a:r>
            <a:endParaRPr lang="ru-RU" sz="2800"/>
          </a:p>
        </p:txBody>
      </p:sp>
      <p:sp>
        <p:nvSpPr>
          <p:cNvPr id="15" name="Edited shape 5"/>
          <p:cNvSpPr txBox="1"/>
          <p:nvPr/>
        </p:nvSpPr>
        <p:spPr>
          <a:xfrm>
            <a:off x="859536" y="1499616"/>
            <a:ext cx="10515600" cy="36576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400" b="1">
                <a:solidFill>
                  <a:srgbClr val="0072BC"/>
                </a:solidFill>
                <a:latin typeface="Arial"/>
                <a:ea typeface="Arial"/>
                <a:cs typeface="Arial"/>
              </a:rPr>
              <a:t>ПРЕДЛАГАЕМОЕ РАЗВИТИЕ • состав работ уточняем относительно выбранной сборки</a:t>
            </a:r>
            <a:endParaRPr lang="ru-RU" sz="1400"/>
          </a:p>
        </p:txBody>
      </p:sp>
      <p:sp>
        <p:nvSpPr>
          <p:cNvPr id="16" name="Edited shape 6"/>
          <p:cNvSpPr txBox="1"/>
          <p:nvPr/>
        </p:nvSpPr>
        <p:spPr>
          <a:xfrm>
            <a:off x="10972800" y="6565392"/>
            <a:ext cx="320040" cy="201168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000" b="0">
                <a:solidFill>
                  <a:srgbClr val="52657B"/>
                </a:solidFill>
                <a:latin typeface="Arial"/>
                <a:ea typeface="Arial"/>
                <a:cs typeface="Arial"/>
              </a:rPr>
              <a:t>6</a:t>
            </a:r>
            <a:endParaRPr lang="ru-RU" sz="1000"/>
          </a:p>
        </p:txBody>
      </p:sp>
      <p:sp>
        <p:nvSpPr>
          <p:cNvPr id="17" name="Edited shape 7"/>
          <p:cNvSpPr txBox="1"/>
          <p:nvPr/>
        </p:nvSpPr>
        <p:spPr>
          <a:xfrm>
            <a:off x="896112" y="2029968"/>
            <a:ext cx="10195560" cy="82296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2500" b="1">
                <a:solidFill>
                  <a:srgbClr val="163D72"/>
                </a:solidFill>
                <a:latin typeface="Arial"/>
                <a:ea typeface="Arial"/>
                <a:cs typeface="Arial"/>
              </a:rPr>
              <a:t>Оригинал сохраняется. Из содержимого файла</a:t>
            </a:r>
            <a:endParaRPr lang="ru-RU" sz="2500"/>
          </a:p>
          <a:p>
            <a:pPr>
              <a:spcAft>
                <a:spcPts val="200"/>
              </a:spcAft>
            </a:pPr>
            <a:r>
              <a:rPr lang="ru-RU" sz="2500" b="1">
                <a:solidFill>
                  <a:srgbClr val="163D72"/>
                </a:solidFill>
                <a:latin typeface="Arial"/>
                <a:ea typeface="Arial"/>
                <a:cs typeface="Arial"/>
              </a:rPr>
              <a:t>готовятся данные для поиска и анализа.</a:t>
            </a:r>
            <a:endParaRPr lang="ru-RU" sz="2500"/>
          </a:p>
        </p:txBody>
      </p:sp>
      <p:sp>
        <p:nvSpPr>
          <p:cNvPr id="18" name="Edited shape 8"/>
          <p:cNvSpPr txBox="1"/>
          <p:nvPr/>
        </p:nvSpPr>
        <p:spPr>
          <a:xfrm>
            <a:off x="896112" y="3218688"/>
            <a:ext cx="2450592" cy="2468880"/>
          </a:xfrm>
          <a:prstGeom prst="rect">
            <a:avLst/>
          </a:prstGeom>
          <a:solidFill>
            <a:srgbClr val="F1F6FB"/>
          </a:solidFill>
          <a:ln w="9525">
            <a:noFill/>
          </a:ln>
        </p:spPr>
      </p:sp>
      <p:sp>
        <p:nvSpPr>
          <p:cNvPr id="19" name="Edited shape 9"/>
          <p:cNvSpPr txBox="1"/>
          <p:nvPr/>
        </p:nvSpPr>
        <p:spPr>
          <a:xfrm>
            <a:off x="1051560" y="3383280"/>
            <a:ext cx="2139696" cy="438912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2800" b="1">
                <a:solidFill>
                  <a:srgbClr val="0072BC"/>
                </a:solidFill>
                <a:latin typeface="Arial"/>
                <a:ea typeface="Arial"/>
                <a:cs typeface="Arial"/>
              </a:rPr>
              <a:t>01</a:t>
            </a:r>
            <a:endParaRPr lang="ru-RU" sz="2800"/>
          </a:p>
        </p:txBody>
      </p:sp>
      <p:sp>
        <p:nvSpPr>
          <p:cNvPr id="20" name="Edited shape 10"/>
          <p:cNvSpPr txBox="1"/>
          <p:nvPr/>
        </p:nvSpPr>
        <p:spPr>
          <a:xfrm>
            <a:off x="1051560" y="3986784"/>
            <a:ext cx="2139696" cy="393192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900" b="1">
                <a:solidFill>
                  <a:srgbClr val="163D72"/>
                </a:solidFill>
                <a:latin typeface="Arial"/>
                <a:ea typeface="Arial"/>
                <a:cs typeface="Arial"/>
              </a:rPr>
              <a:t>Извлечение</a:t>
            </a:r>
            <a:endParaRPr lang="ru-RU" sz="1900"/>
          </a:p>
        </p:txBody>
      </p:sp>
      <p:sp>
        <p:nvSpPr>
          <p:cNvPr id="21" name="Edited shape 11"/>
          <p:cNvSpPr txBox="1"/>
          <p:nvPr/>
        </p:nvSpPr>
        <p:spPr>
          <a:xfrm>
            <a:off x="1051560" y="4572000"/>
            <a:ext cx="2139696" cy="100584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6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Текст и реквизиты</a:t>
            </a:r>
            <a:endParaRPr lang="ru-RU" sz="1600"/>
          </a:p>
          <a:p>
            <a:pPr>
              <a:spcAft>
                <a:spcPts val="200"/>
              </a:spcAft>
            </a:pPr>
            <a:r>
              <a:rPr lang="ru-RU" sz="16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Распознавание сканов</a:t>
            </a:r>
            <a:endParaRPr lang="ru-RU" sz="1600"/>
          </a:p>
          <a:p>
            <a:pPr>
              <a:spcAft>
                <a:spcPts val="200"/>
              </a:spcAft>
            </a:pPr>
            <a:r>
              <a:rPr lang="ru-RU" sz="16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(OCR) — в плане</a:t>
            </a:r>
            <a:endParaRPr lang="ru-RU" sz="1600"/>
          </a:p>
        </p:txBody>
      </p:sp>
      <p:sp>
        <p:nvSpPr>
          <p:cNvPr id="22" name="Edited shape 12"/>
          <p:cNvSpPr txBox="1"/>
          <p:nvPr/>
        </p:nvSpPr>
        <p:spPr>
          <a:xfrm>
            <a:off x="3547872" y="3218688"/>
            <a:ext cx="2450592" cy="2468880"/>
          </a:xfrm>
          <a:prstGeom prst="rect">
            <a:avLst/>
          </a:prstGeom>
          <a:solidFill>
            <a:srgbClr val="F1F6FB"/>
          </a:solidFill>
          <a:ln w="9525">
            <a:noFill/>
          </a:ln>
        </p:spPr>
      </p:sp>
      <p:sp>
        <p:nvSpPr>
          <p:cNvPr id="23" name="Edited shape 13"/>
          <p:cNvSpPr txBox="1"/>
          <p:nvPr/>
        </p:nvSpPr>
        <p:spPr>
          <a:xfrm>
            <a:off x="3703320" y="3383280"/>
            <a:ext cx="2139696" cy="438912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2800" b="1">
                <a:solidFill>
                  <a:srgbClr val="0072BC"/>
                </a:solidFill>
                <a:latin typeface="Arial"/>
                <a:ea typeface="Arial"/>
                <a:cs typeface="Arial"/>
              </a:rPr>
              <a:t>02</a:t>
            </a:r>
            <a:endParaRPr lang="ru-RU" sz="2800"/>
          </a:p>
        </p:txBody>
      </p:sp>
      <p:sp>
        <p:nvSpPr>
          <p:cNvPr id="24" name="Edited shape 14"/>
          <p:cNvSpPr txBox="1"/>
          <p:nvPr/>
        </p:nvSpPr>
        <p:spPr>
          <a:xfrm>
            <a:off x="3703320" y="3986784"/>
            <a:ext cx="2139696" cy="393192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900" b="1">
                <a:solidFill>
                  <a:srgbClr val="163D72"/>
                </a:solidFill>
                <a:latin typeface="Arial"/>
                <a:ea typeface="Arial"/>
                <a:cs typeface="Arial"/>
              </a:rPr>
              <a:t>Контекст</a:t>
            </a:r>
            <a:endParaRPr lang="ru-RU" sz="1900"/>
          </a:p>
        </p:txBody>
      </p:sp>
      <p:sp>
        <p:nvSpPr>
          <p:cNvPr id="25" name="Edited shape 15"/>
          <p:cNvSpPr txBox="1"/>
          <p:nvPr/>
        </p:nvSpPr>
        <p:spPr>
          <a:xfrm>
            <a:off x="3703320" y="4572000"/>
            <a:ext cx="2139696" cy="100584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6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Тип, тема, участники</a:t>
            </a:r>
            <a:endParaRPr lang="ru-RU" sz="1600"/>
          </a:p>
          <a:p>
            <a:pPr>
              <a:spcAft>
                <a:spcPts val="200"/>
              </a:spcAft>
            </a:pPr>
            <a:r>
              <a:rPr lang="ru-RU" sz="16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и версия документа</a:t>
            </a:r>
            <a:endParaRPr lang="ru-RU" sz="1600"/>
          </a:p>
        </p:txBody>
      </p:sp>
      <p:sp>
        <p:nvSpPr>
          <p:cNvPr id="26" name="Edited shape 16"/>
          <p:cNvSpPr txBox="1"/>
          <p:nvPr/>
        </p:nvSpPr>
        <p:spPr>
          <a:xfrm>
            <a:off x="6199632" y="3218688"/>
            <a:ext cx="2450592" cy="2468880"/>
          </a:xfrm>
          <a:prstGeom prst="rect">
            <a:avLst/>
          </a:prstGeom>
          <a:solidFill>
            <a:srgbClr val="F1F6FB"/>
          </a:solidFill>
          <a:ln w="9525">
            <a:noFill/>
          </a:ln>
        </p:spPr>
      </p:sp>
      <p:sp>
        <p:nvSpPr>
          <p:cNvPr id="27" name="Edited shape 17"/>
          <p:cNvSpPr txBox="1"/>
          <p:nvPr/>
        </p:nvSpPr>
        <p:spPr>
          <a:xfrm>
            <a:off x="6355080" y="3383280"/>
            <a:ext cx="2139696" cy="438912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2800" b="1">
                <a:solidFill>
                  <a:srgbClr val="0072BC"/>
                </a:solidFill>
                <a:latin typeface="Arial"/>
                <a:ea typeface="Arial"/>
                <a:cs typeface="Arial"/>
              </a:rPr>
              <a:t>03</a:t>
            </a:r>
            <a:endParaRPr lang="ru-RU" sz="2800"/>
          </a:p>
        </p:txBody>
      </p:sp>
      <p:sp>
        <p:nvSpPr>
          <p:cNvPr id="28" name="Edited shape 18"/>
          <p:cNvSpPr txBox="1"/>
          <p:nvPr/>
        </p:nvSpPr>
        <p:spPr>
          <a:xfrm>
            <a:off x="6355080" y="3986784"/>
            <a:ext cx="2139696" cy="393192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900" b="1">
                <a:solidFill>
                  <a:srgbClr val="163D72"/>
                </a:solidFill>
                <a:latin typeface="Arial"/>
                <a:ea typeface="Arial"/>
                <a:cs typeface="Arial"/>
              </a:rPr>
              <a:t>Индекс</a:t>
            </a:r>
            <a:endParaRPr lang="ru-RU" sz="1900"/>
          </a:p>
        </p:txBody>
      </p:sp>
      <p:sp>
        <p:nvSpPr>
          <p:cNvPr id="29" name="Edited shape 19"/>
          <p:cNvSpPr txBox="1"/>
          <p:nvPr/>
        </p:nvSpPr>
        <p:spPr>
          <a:xfrm>
            <a:off x="6355080" y="4572000"/>
            <a:ext cx="2139696" cy="100584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6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Фрагменты текста</a:t>
            </a:r>
            <a:endParaRPr lang="ru-RU" sz="1600"/>
          </a:p>
          <a:p>
            <a:pPr>
              <a:spcAft>
                <a:spcPts val="200"/>
              </a:spcAft>
            </a:pPr>
            <a:r>
              <a:rPr lang="ru-RU" sz="16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и индекс для поиска</a:t>
            </a:r>
            <a:endParaRPr lang="ru-RU" sz="1600"/>
          </a:p>
          <a:p>
            <a:pPr>
              <a:spcAft>
                <a:spcPts val="200"/>
              </a:spcAft>
            </a:pPr>
            <a:r>
              <a:rPr lang="ru-RU" sz="16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по смыслу</a:t>
            </a:r>
            <a:endParaRPr lang="ru-RU" sz="1600"/>
          </a:p>
        </p:txBody>
      </p:sp>
      <p:sp>
        <p:nvSpPr>
          <p:cNvPr id="30" name="Edited shape 20"/>
          <p:cNvSpPr txBox="1"/>
          <p:nvPr/>
        </p:nvSpPr>
        <p:spPr>
          <a:xfrm>
            <a:off x="8851392" y="3218688"/>
            <a:ext cx="2450592" cy="2468880"/>
          </a:xfrm>
          <a:prstGeom prst="rect">
            <a:avLst/>
          </a:prstGeom>
          <a:solidFill>
            <a:srgbClr val="F1F6FB"/>
          </a:solidFill>
          <a:ln w="9525">
            <a:noFill/>
          </a:ln>
        </p:spPr>
      </p:sp>
      <p:sp>
        <p:nvSpPr>
          <p:cNvPr id="31" name="Edited shape 21"/>
          <p:cNvSpPr txBox="1"/>
          <p:nvPr/>
        </p:nvSpPr>
        <p:spPr>
          <a:xfrm>
            <a:off x="9006840" y="3383280"/>
            <a:ext cx="2139696" cy="438912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2800" b="1">
                <a:solidFill>
                  <a:srgbClr val="0072BC"/>
                </a:solidFill>
                <a:latin typeface="Arial"/>
                <a:ea typeface="Arial"/>
                <a:cs typeface="Arial"/>
              </a:rPr>
              <a:t>04</a:t>
            </a:r>
            <a:endParaRPr lang="ru-RU" sz="2800"/>
          </a:p>
        </p:txBody>
      </p:sp>
      <p:sp>
        <p:nvSpPr>
          <p:cNvPr id="32" name="Edited shape 22"/>
          <p:cNvSpPr txBox="1"/>
          <p:nvPr/>
        </p:nvSpPr>
        <p:spPr>
          <a:xfrm>
            <a:off x="9006840" y="3986784"/>
            <a:ext cx="2139696" cy="393192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900" b="1">
                <a:solidFill>
                  <a:srgbClr val="163D72"/>
                </a:solidFill>
                <a:latin typeface="Arial"/>
                <a:ea typeface="Arial"/>
                <a:cs typeface="Arial"/>
              </a:rPr>
              <a:t>Применение</a:t>
            </a:r>
            <a:endParaRPr lang="ru-RU" sz="1900"/>
          </a:p>
        </p:txBody>
      </p:sp>
      <p:sp>
        <p:nvSpPr>
          <p:cNvPr id="33" name="Edited shape 23"/>
          <p:cNvSpPr txBox="1"/>
          <p:nvPr/>
        </p:nvSpPr>
        <p:spPr>
          <a:xfrm>
            <a:off x="9006840" y="4572000"/>
            <a:ext cx="2139696" cy="100584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6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Поиск, предложения</a:t>
            </a:r>
            <a:endParaRPr lang="ru-RU" sz="1600"/>
          </a:p>
          <a:p>
            <a:pPr>
              <a:spcAft>
                <a:spcPts val="200"/>
              </a:spcAft>
            </a:pPr>
            <a:r>
              <a:rPr lang="ru-RU" sz="16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связей и сводки</a:t>
            </a:r>
            <a:endParaRPr lang="ru-RU" sz="1600"/>
          </a:p>
          <a:p>
            <a:pPr>
              <a:spcAft>
                <a:spcPts val="200"/>
              </a:spcAft>
            </a:pPr>
            <a:r>
              <a:rPr lang="ru-RU" sz="16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с опорой на источник</a:t>
            </a:r>
            <a:endParaRPr lang="ru-RU" sz="1600"/>
          </a:p>
        </p:txBody>
      </p:sp>
      <p:sp>
        <p:nvSpPr>
          <p:cNvPr id="34" name="Edited shape 24"/>
          <p:cNvSpPr txBox="1"/>
          <p:nvPr/>
        </p:nvSpPr>
        <p:spPr>
          <a:xfrm>
            <a:off x="859536" y="6291072"/>
            <a:ext cx="10287000" cy="36576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200" b="0">
                <a:solidFill>
                  <a:srgbClr val="52657B"/>
                </a:solidFill>
                <a:latin typeface="Arial"/>
                <a:ea typeface="Arial"/>
                <a:cs typeface="Arial"/>
              </a:rPr>
              <a:t>Это план развития, а не перечень обещаний о текущем сайте. Автоматические результаты проверяет специалист.</a:t>
            </a:r>
            <a:endParaRPr lang="ru-RU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Edited shape 3"/>
          <p:cNvSpPr txBox="1"/>
          <p:nvPr/>
        </p:nvSpPr>
        <p:spPr>
          <a:xfrm>
            <a:off x="502920" y="1307592"/>
            <a:ext cx="11228832" cy="5285232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sp>
      <p:sp>
        <p:nvSpPr>
          <p:cNvPr id="14" name="Edited shape 4"/>
          <p:cNvSpPr txBox="1"/>
          <p:nvPr/>
        </p:nvSpPr>
        <p:spPr>
          <a:xfrm>
            <a:off x="841248" y="365760"/>
            <a:ext cx="8549640" cy="68580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2800" b="1">
                <a:solidFill>
                  <a:srgbClr val="163D72"/>
                </a:solidFill>
                <a:latin typeface="Arial"/>
                <a:ea typeface="Arial"/>
                <a:cs typeface="Arial"/>
              </a:rPr>
              <a:t>Предлагаем ограниченный пилот</a:t>
            </a:r>
            <a:endParaRPr lang="ru-RU" sz="2800"/>
          </a:p>
        </p:txBody>
      </p:sp>
      <p:sp>
        <p:nvSpPr>
          <p:cNvPr id="15" name="Edited shape 5"/>
          <p:cNvSpPr txBox="1"/>
          <p:nvPr/>
        </p:nvSpPr>
        <p:spPr>
          <a:xfrm>
            <a:off x="859536" y="1499616"/>
            <a:ext cx="10515600" cy="36576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400" b="1">
                <a:solidFill>
                  <a:srgbClr val="0072BC"/>
                </a:solidFill>
                <a:latin typeface="Arial"/>
                <a:ea typeface="Arial"/>
                <a:cs typeface="Arial"/>
              </a:rPr>
              <a:t>РЕШЕНИЕ ВСТРЕЧИ • согласовать сценарии, участников, срок и ответственного</a:t>
            </a:r>
            <a:endParaRPr lang="ru-RU" sz="1400"/>
          </a:p>
        </p:txBody>
      </p:sp>
      <p:sp>
        <p:nvSpPr>
          <p:cNvPr id="16" name="Edited shape 6"/>
          <p:cNvSpPr txBox="1"/>
          <p:nvPr/>
        </p:nvSpPr>
        <p:spPr>
          <a:xfrm>
            <a:off x="10972800" y="6565392"/>
            <a:ext cx="320040" cy="201168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000" b="0">
                <a:solidFill>
                  <a:srgbClr val="52657B"/>
                </a:solidFill>
                <a:latin typeface="Arial"/>
                <a:ea typeface="Arial"/>
                <a:cs typeface="Arial"/>
              </a:rPr>
              <a:t>7</a:t>
            </a:r>
            <a:endParaRPr lang="ru-RU" sz="1000"/>
          </a:p>
        </p:txBody>
      </p:sp>
      <p:sp>
        <p:nvSpPr>
          <p:cNvPr id="17" name="Edited shape 7"/>
          <p:cNvSpPr txBox="1"/>
          <p:nvPr/>
        </p:nvSpPr>
        <p:spPr>
          <a:xfrm>
            <a:off x="896112" y="2057400"/>
            <a:ext cx="10241280" cy="868680"/>
          </a:xfrm>
          <a:prstGeom prst="rect">
            <a:avLst/>
          </a:prstGeom>
          <a:solidFill>
            <a:srgbClr val="F1F6FB"/>
          </a:solidFill>
          <a:ln w="9525">
            <a:noFill/>
          </a:ln>
        </p:spPr>
      </p:sp>
      <p:sp>
        <p:nvSpPr>
          <p:cNvPr id="18" name="Edited shape 8"/>
          <p:cNvSpPr txBox="1"/>
          <p:nvPr/>
        </p:nvSpPr>
        <p:spPr>
          <a:xfrm>
            <a:off x="1060704" y="2240280"/>
            <a:ext cx="3547872" cy="475488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2000" b="1">
                <a:solidFill>
                  <a:srgbClr val="163D72"/>
                </a:solidFill>
                <a:latin typeface="Arial"/>
                <a:ea typeface="Arial"/>
                <a:cs typeface="Arial"/>
              </a:rPr>
              <a:t>Поиск переписки</a:t>
            </a:r>
            <a:endParaRPr lang="ru-RU" sz="2000"/>
          </a:p>
        </p:txBody>
      </p:sp>
      <p:sp>
        <p:nvSpPr>
          <p:cNvPr id="19" name="Edited shape 9"/>
          <p:cNvSpPr txBox="1"/>
          <p:nvPr/>
        </p:nvSpPr>
        <p:spPr>
          <a:xfrm>
            <a:off x="4773168" y="2267712"/>
            <a:ext cx="6108192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8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Время поиска • верные и пропущенные связи</a:t>
            </a:r>
            <a:endParaRPr lang="ru-RU" sz="1800"/>
          </a:p>
        </p:txBody>
      </p:sp>
      <p:sp>
        <p:nvSpPr>
          <p:cNvPr id="20" name="Edited shape 10"/>
          <p:cNvSpPr txBox="1"/>
          <p:nvPr/>
        </p:nvSpPr>
        <p:spPr>
          <a:xfrm>
            <a:off x="896112" y="3108960"/>
            <a:ext cx="10241280" cy="868680"/>
          </a:xfrm>
          <a:prstGeom prst="rect">
            <a:avLst/>
          </a:prstGeom>
          <a:solidFill>
            <a:srgbClr val="F1F6FB"/>
          </a:solidFill>
          <a:ln w="9525">
            <a:noFill/>
          </a:ln>
        </p:spPr>
      </p:sp>
      <p:sp>
        <p:nvSpPr>
          <p:cNvPr id="21" name="Edited shape 11"/>
          <p:cNvSpPr txBox="1"/>
          <p:nvPr/>
        </p:nvSpPr>
        <p:spPr>
          <a:xfrm>
            <a:off x="1060704" y="3291840"/>
            <a:ext cx="3547872" cy="475488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2000" b="1">
                <a:solidFill>
                  <a:srgbClr val="163D72"/>
                </a:solidFill>
                <a:latin typeface="Arial"/>
                <a:ea typeface="Arial"/>
                <a:cs typeface="Arial"/>
              </a:rPr>
              <a:t>Карточка из шаблона</a:t>
            </a:r>
            <a:endParaRPr lang="ru-RU" sz="2000"/>
          </a:p>
        </p:txBody>
      </p:sp>
      <p:sp>
        <p:nvSpPr>
          <p:cNvPr id="22" name="Edited shape 12"/>
          <p:cNvSpPr txBox="1"/>
          <p:nvPr/>
        </p:nvSpPr>
        <p:spPr>
          <a:xfrm>
            <a:off x="4773168" y="3319272"/>
            <a:ext cx="6108192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8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Время создания • число ручных заполнений</a:t>
            </a:r>
            <a:endParaRPr lang="ru-RU" sz="1800"/>
          </a:p>
        </p:txBody>
      </p:sp>
      <p:sp>
        <p:nvSpPr>
          <p:cNvPr id="23" name="Edited shape 13"/>
          <p:cNvSpPr txBox="1"/>
          <p:nvPr/>
        </p:nvSpPr>
        <p:spPr>
          <a:xfrm>
            <a:off x="896112" y="4160520"/>
            <a:ext cx="10241280" cy="868680"/>
          </a:xfrm>
          <a:prstGeom prst="rect">
            <a:avLst/>
          </a:prstGeom>
          <a:solidFill>
            <a:srgbClr val="F1F6FB"/>
          </a:solidFill>
          <a:ln w="9525">
            <a:noFill/>
          </a:ln>
        </p:spPr>
      </p:sp>
      <p:sp>
        <p:nvSpPr>
          <p:cNvPr id="24" name="Edited shape 14"/>
          <p:cNvSpPr txBox="1"/>
          <p:nvPr/>
        </p:nvSpPr>
        <p:spPr>
          <a:xfrm>
            <a:off x="1060704" y="4343400"/>
            <a:ext cx="3547872" cy="475488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2000" b="1">
                <a:solidFill>
                  <a:srgbClr val="163D72"/>
                </a:solidFill>
                <a:latin typeface="Arial"/>
                <a:ea typeface="Arial"/>
                <a:cs typeface="Arial"/>
              </a:rPr>
              <a:t>Сравнение документов</a:t>
            </a:r>
            <a:endParaRPr lang="ru-RU" sz="2000"/>
          </a:p>
        </p:txBody>
      </p:sp>
      <p:sp>
        <p:nvSpPr>
          <p:cNvPr id="25" name="Edited shape 15"/>
          <p:cNvSpPr txBox="1"/>
          <p:nvPr/>
        </p:nvSpPr>
        <p:spPr>
          <a:xfrm>
            <a:off x="4773168" y="4370832"/>
            <a:ext cx="6108192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8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Время сравнения • число повторных поисков</a:t>
            </a:r>
            <a:endParaRPr lang="ru-RU" sz="1800"/>
          </a:p>
        </p:txBody>
      </p:sp>
      <p:sp>
        <p:nvSpPr>
          <p:cNvPr id="26" name="Edited shape 16"/>
          <p:cNvSpPr txBox="1"/>
          <p:nvPr/>
        </p:nvSpPr>
        <p:spPr>
          <a:xfrm>
            <a:off x="914400" y="5376672"/>
            <a:ext cx="10131552" cy="566928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800" b="0">
                <a:solidFill>
                  <a:srgbClr val="163D72"/>
                </a:solidFill>
                <a:latin typeface="Arial"/>
                <a:ea typeface="Arial"/>
                <a:cs typeface="Arial"/>
              </a:rPr>
              <a:t>До старта: согласовать данные, доступ и пороги успеха.</a:t>
            </a:r>
            <a:endParaRPr lang="ru-RU" sz="1800"/>
          </a:p>
          <a:p>
            <a:pPr>
              <a:spcAft>
                <a:spcPts val="200"/>
              </a:spcAft>
            </a:pPr>
            <a:r>
              <a:rPr lang="ru-RU" sz="1800" b="0">
                <a:solidFill>
                  <a:srgbClr val="163D72"/>
                </a:solidFill>
                <a:latin typeface="Arial"/>
                <a:ea typeface="Arial"/>
                <a:cs typeface="Arial"/>
              </a:rPr>
              <a:t>После: сравнить одинаковые задачи до / после и решить о масштабе.</a:t>
            </a:r>
            <a:endParaRPr lang="ru-RU" sz="1800"/>
          </a:p>
        </p:txBody>
      </p:sp>
      <p:sp>
        <p:nvSpPr>
          <p:cNvPr id="27" name="Edited shape 17"/>
          <p:cNvSpPr txBox="1"/>
          <p:nvPr/>
        </p:nvSpPr>
        <p:spPr>
          <a:xfrm>
            <a:off x="859536" y="6291072"/>
            <a:ext cx="10287000" cy="365760"/>
          </a:xfrm>
          <a:prstGeom prst="rect">
            <a:avLst/>
          </a:prstGeom>
          <a:noFill/>
          <a:ln w="9525">
            <a:noFill/>
          </a:ln>
        </p:spPr>
        <p:txBody>
          <a:bodyPr wrap="square" lIns="0" rIns="0" tIns="0" bIns="0" anchor="t"/>
          <a:lstStyle/>
          <a:p>
            <a:pPr>
              <a:spcAft>
                <a:spcPts val="200"/>
              </a:spcAft>
            </a:pPr>
            <a:r>
              <a:rPr lang="ru-RU" sz="1200" b="0">
                <a:solidFill>
                  <a:srgbClr val="52657B"/>
                </a:solidFill>
                <a:latin typeface="Arial"/>
                <a:ea typeface="Arial"/>
                <a:cs typeface="Arial"/>
              </a:rPr>
              <a:t>Просим согласовать подготовку пилота. Численные критерии, ресурсы и сроки определяются с владельцем процесса.</a:t>
            </a:r>
            <a:endParaRPr lang="ru-RU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Академия Тренеров">
      <a:dk1>
        <a:srgbClr val="333333"/>
      </a:dk1>
      <a:lt1>
        <a:sysClr val="window" lastClr="FFFFFF"/>
      </a:lt1>
      <a:dk2>
        <a:srgbClr val="333333"/>
      </a:dk2>
      <a:lt2>
        <a:srgbClr val="EBEBEB"/>
      </a:lt2>
      <a:accent1>
        <a:srgbClr val="20386A"/>
      </a:accent1>
      <a:accent2>
        <a:srgbClr val="035FA2"/>
      </a:accent2>
      <a:accent3>
        <a:srgbClr val="6EABDE"/>
      </a:accent3>
      <a:accent4>
        <a:srgbClr val="E2067A"/>
      </a:accent4>
      <a:accent5>
        <a:srgbClr val="269789"/>
      </a:accent5>
      <a:accent6>
        <a:srgbClr val="61B234"/>
      </a:accent6>
      <a:hlink>
        <a:srgbClr val="035FA2"/>
      </a:hlink>
      <a:folHlink>
        <a:srgbClr val="E2067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11</Words>
  <Application>Microsoft Office PowerPoint</Application>
  <PresentationFormat>Широкоэкранный</PresentationFormat>
  <Paragraphs>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1" baseType="lpstr">
      <vt:lpstr>Arial</vt:lpstr>
      <vt:lpstr>Тема Office</vt:lpstr>
      <vt:lpstr>Название презентации</vt:lpstr>
      <vt:lpstr>Схема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МАРУСЯ Мурзикина</dc:creator>
  <cp:lastModifiedBy>МАРУСЯ Мурзикина</cp:lastModifiedBy>
  <cp:revision>11</cp:revision>
  <dcterms:created xsi:type="dcterms:W3CDTF">2024-10-17T11:11:52Z</dcterms:created>
  <dcterms:modified xsi:type="dcterms:W3CDTF">2026-10-15T10:14:44Z</dcterms:modified>
</cp:coreProperties>
</file>